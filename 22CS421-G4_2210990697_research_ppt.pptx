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7" r:id="rId11"/>
    <p:sldId id="266" r:id="rId12"/>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41"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9" d="100"/>
          <a:sy n="69" d="100"/>
        </p:scale>
        <p:origin x="1661" y="67"/>
      </p:cViewPr>
      <p:guideLst>
        <p:guide orient="horz" pos="2841"/>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3500" b="0" i="0">
                <a:solidFill>
                  <a:schemeClr val="tx1"/>
                </a:solidFill>
                <a:latin typeface="Times New Roman" panose="02020603050405020304"/>
                <a:cs typeface="Times New Roman" panose="02020603050405020304"/>
              </a:defRPr>
            </a:lvl1pPr>
          </a:lstStyle>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2650" b="0" i="0">
                <a:solidFill>
                  <a:schemeClr val="tx1"/>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defRPr sz="1300" b="1" i="0">
                <a:solidFill>
                  <a:schemeClr val="tx1"/>
                </a:solidFill>
                <a:latin typeface="Calibri" panose="020F0502020204030204"/>
                <a:cs typeface="Calibri" panose="020F0502020204030204"/>
              </a:defRPr>
            </a:lvl1pPr>
          </a:lstStyle>
          <a:p>
            <a:pPr marL="38100">
              <a:lnSpc>
                <a:spcPts val="1350"/>
              </a:lnSpc>
            </a:pPr>
            <a:fld id="{81D60167-4931-47E6-BA6A-407CBD079E47}" type="slidenum">
              <a:rPr spc="-50" dirty="0"/>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0" i="0">
                <a:solidFill>
                  <a:schemeClr val="tx1"/>
                </a:solidFill>
                <a:latin typeface="Times New Roman" panose="02020603050405020304"/>
                <a:cs typeface="Times New Roman" panose="02020603050405020304"/>
              </a:defRPr>
            </a:lvl1pPr>
          </a:lstStyle>
          <a:p/>
        </p:txBody>
      </p:sp>
      <p:sp>
        <p:nvSpPr>
          <p:cNvPr id="3" name="Holder 3"/>
          <p:cNvSpPr>
            <a:spLocks noGrp="1"/>
          </p:cNvSpPr>
          <p:nvPr>
            <p:ph type="body" idx="1"/>
          </p:nvPr>
        </p:nvSpPr>
        <p:spPr/>
        <p:txBody>
          <a:bodyPr lIns="0" tIns="0" rIns="0" bIns="0"/>
          <a:lstStyle>
            <a:lvl1pPr>
              <a:defRPr sz="2650" b="0" i="0">
                <a:solidFill>
                  <a:schemeClr val="tx1"/>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defRPr sz="1300" b="1" i="0">
                <a:solidFill>
                  <a:schemeClr val="tx1"/>
                </a:solidFill>
                <a:latin typeface="Calibri" panose="020F0502020204030204"/>
                <a:cs typeface="Calibri" panose="020F0502020204030204"/>
              </a:defRPr>
            </a:lvl1pPr>
          </a:lstStyle>
          <a:p>
            <a:pPr marL="38100">
              <a:lnSpc>
                <a:spcPts val="1350"/>
              </a:lnSpc>
            </a:pPr>
            <a:fld id="{81D60167-4931-47E6-BA6A-407CBD079E47}" type="slidenum">
              <a:rPr spc="-50" dirty="0"/>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0" i="0">
                <a:solidFill>
                  <a:schemeClr val="tx1"/>
                </a:solidFill>
                <a:latin typeface="Times New Roman" panose="02020603050405020304"/>
                <a:cs typeface="Times New Roman" panose="02020603050405020304"/>
              </a:defRPr>
            </a:lvl1pPr>
          </a:lstStyle>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defRPr sz="1300" b="1" i="0">
                <a:solidFill>
                  <a:schemeClr val="tx1"/>
                </a:solidFill>
                <a:latin typeface="Calibri" panose="020F0502020204030204"/>
                <a:cs typeface="Calibri" panose="020F0502020204030204"/>
              </a:defRPr>
            </a:lvl1pPr>
          </a:lstStyle>
          <a:p>
            <a:pPr marL="38100">
              <a:lnSpc>
                <a:spcPts val="1350"/>
              </a:lnSpc>
            </a:pPr>
            <a:fld id="{81D60167-4931-47E6-BA6A-407CBD079E47}" type="slidenum">
              <a:rPr spc="-50" dirty="0"/>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00" b="0" i="0">
                <a:solidFill>
                  <a:schemeClr val="tx1"/>
                </a:solidFill>
                <a:latin typeface="Times New Roman" panose="02020603050405020304"/>
                <a:cs typeface="Times New Roman" panose="020206030504050203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defRPr sz="1300" b="1" i="0">
                <a:solidFill>
                  <a:schemeClr val="tx1"/>
                </a:solidFill>
                <a:latin typeface="Calibri" panose="020F0502020204030204"/>
                <a:cs typeface="Calibri" panose="020F0502020204030204"/>
              </a:defRPr>
            </a:lvl1pPr>
          </a:lstStyle>
          <a:p>
            <a:pPr marL="38100">
              <a:lnSpc>
                <a:spcPts val="1350"/>
              </a:lnSpc>
            </a:pPr>
            <a:fld id="{81D60167-4931-47E6-BA6A-407CBD079E47}" type="slidenum">
              <a:rPr spc="-50" dirty="0"/>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defRPr sz="1300" b="1" i="0">
                <a:solidFill>
                  <a:schemeClr val="tx1"/>
                </a:solidFill>
                <a:latin typeface="Calibri" panose="020F0502020204030204"/>
                <a:cs typeface="Calibri" panose="020F0502020204030204"/>
              </a:defRPr>
            </a:lvl1pPr>
          </a:lstStyle>
          <a:p>
            <a:pPr marL="38100">
              <a:lnSpc>
                <a:spcPts val="1350"/>
              </a:lnSpc>
            </a:pPr>
            <a:fld id="{81D60167-4931-47E6-BA6A-407CBD079E47}" type="slidenum">
              <a:rPr spc="-50" dirty="0"/>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4.jpeg"/><Relationship Id="rId8" Type="http://schemas.openxmlformats.org/officeDocument/2006/relationships/image" Target="../media/image3.jpeg"/><Relationship Id="rId7" Type="http://schemas.openxmlformats.org/officeDocument/2006/relationships/image" Target="../media/image2.png"/><Relationship Id="rId6" Type="http://schemas.openxmlformats.org/officeDocument/2006/relationships/image" Target="../media/image1.pn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114300"/>
            <a:ext cx="10058400" cy="922019"/>
          </a:xfrm>
          <a:custGeom>
            <a:avLst/>
            <a:gdLst/>
            <a:ahLst/>
            <a:cxnLst/>
            <a:rect l="l" t="t" r="r" b="b"/>
            <a:pathLst>
              <a:path w="10058400" h="922019">
                <a:moveTo>
                  <a:pt x="10058400" y="922020"/>
                </a:moveTo>
                <a:lnTo>
                  <a:pt x="0" y="922020"/>
                </a:lnTo>
                <a:lnTo>
                  <a:pt x="0" y="0"/>
                </a:lnTo>
                <a:lnTo>
                  <a:pt x="10058400" y="0"/>
                </a:lnTo>
                <a:lnTo>
                  <a:pt x="10058400" y="922020"/>
                </a:lnTo>
                <a:close/>
              </a:path>
            </a:pathLst>
          </a:custGeom>
          <a:solidFill>
            <a:srgbClr val="FF3300"/>
          </a:solidFill>
        </p:spPr>
        <p:txBody>
          <a:bodyPr wrap="square" lIns="0" tIns="0" rIns="0" bIns="0" rtlCol="0"/>
          <a:lstStyle/>
          <a:p/>
        </p:txBody>
      </p:sp>
      <p:pic>
        <p:nvPicPr>
          <p:cNvPr id="17" name="bg object 17"/>
          <p:cNvPicPr/>
          <p:nvPr/>
        </p:nvPicPr>
        <p:blipFill>
          <a:blip r:embed="rId6" cstate="print"/>
          <a:stretch>
            <a:fillRect/>
          </a:stretch>
        </p:blipFill>
        <p:spPr>
          <a:xfrm>
            <a:off x="0" y="7484364"/>
            <a:ext cx="10058400" cy="173735"/>
          </a:xfrm>
          <a:prstGeom prst="rect">
            <a:avLst/>
          </a:prstGeom>
        </p:spPr>
      </p:pic>
      <p:pic>
        <p:nvPicPr>
          <p:cNvPr id="18" name="bg object 18"/>
          <p:cNvPicPr/>
          <p:nvPr/>
        </p:nvPicPr>
        <p:blipFill>
          <a:blip r:embed="rId7" cstate="print"/>
          <a:stretch>
            <a:fillRect/>
          </a:stretch>
        </p:blipFill>
        <p:spPr>
          <a:xfrm>
            <a:off x="7208520" y="365760"/>
            <a:ext cx="2263140" cy="699515"/>
          </a:xfrm>
          <a:prstGeom prst="rect">
            <a:avLst/>
          </a:prstGeom>
        </p:spPr>
      </p:pic>
      <p:pic>
        <p:nvPicPr>
          <p:cNvPr id="19" name="bg object 19"/>
          <p:cNvPicPr/>
          <p:nvPr/>
        </p:nvPicPr>
        <p:blipFill>
          <a:blip r:embed="rId8" cstate="print"/>
          <a:stretch>
            <a:fillRect/>
          </a:stretch>
        </p:blipFill>
        <p:spPr>
          <a:xfrm>
            <a:off x="7208520" y="365760"/>
            <a:ext cx="2113787" cy="670560"/>
          </a:xfrm>
          <a:prstGeom prst="rect">
            <a:avLst/>
          </a:prstGeom>
        </p:spPr>
      </p:pic>
      <p:pic>
        <p:nvPicPr>
          <p:cNvPr id="20" name="bg object 20"/>
          <p:cNvPicPr/>
          <p:nvPr/>
        </p:nvPicPr>
        <p:blipFill>
          <a:blip r:embed="rId9" cstate="print"/>
          <a:stretch>
            <a:fillRect/>
          </a:stretch>
        </p:blipFill>
        <p:spPr>
          <a:xfrm>
            <a:off x="7208520" y="365760"/>
            <a:ext cx="2263140" cy="699515"/>
          </a:xfrm>
          <a:prstGeom prst="rect">
            <a:avLst/>
          </a:prstGeom>
        </p:spPr>
      </p:pic>
      <p:sp>
        <p:nvSpPr>
          <p:cNvPr id="21" name="bg object 21"/>
          <p:cNvSpPr/>
          <p:nvPr/>
        </p:nvSpPr>
        <p:spPr>
          <a:xfrm>
            <a:off x="6761988" y="114300"/>
            <a:ext cx="3296920" cy="922019"/>
          </a:xfrm>
          <a:custGeom>
            <a:avLst/>
            <a:gdLst/>
            <a:ahLst/>
            <a:cxnLst/>
            <a:rect l="l" t="t" r="r" b="b"/>
            <a:pathLst>
              <a:path w="3296920" h="922019">
                <a:moveTo>
                  <a:pt x="3296412" y="922020"/>
                </a:moveTo>
                <a:lnTo>
                  <a:pt x="0" y="922020"/>
                </a:lnTo>
                <a:lnTo>
                  <a:pt x="0" y="0"/>
                </a:lnTo>
                <a:lnTo>
                  <a:pt x="3296412" y="0"/>
                </a:lnTo>
                <a:lnTo>
                  <a:pt x="3296412" y="922020"/>
                </a:lnTo>
                <a:close/>
              </a:path>
            </a:pathLst>
          </a:custGeom>
          <a:solidFill>
            <a:srgbClr val="FF3300"/>
          </a:solidFill>
        </p:spPr>
        <p:txBody>
          <a:bodyPr wrap="square" lIns="0" tIns="0" rIns="0" bIns="0" rtlCol="0"/>
          <a:lstStyle/>
          <a:p/>
        </p:txBody>
      </p:sp>
      <p:pic>
        <p:nvPicPr>
          <p:cNvPr id="22" name="bg object 22"/>
          <p:cNvPicPr/>
          <p:nvPr/>
        </p:nvPicPr>
        <p:blipFill>
          <a:blip r:embed="rId9" cstate="print"/>
          <a:stretch>
            <a:fillRect/>
          </a:stretch>
        </p:blipFill>
        <p:spPr>
          <a:xfrm>
            <a:off x="7208520" y="365760"/>
            <a:ext cx="2263140" cy="699515"/>
          </a:xfrm>
          <a:prstGeom prst="rect">
            <a:avLst/>
          </a:prstGeom>
        </p:spPr>
      </p:pic>
      <p:sp>
        <p:nvSpPr>
          <p:cNvPr id="23" name="bg object 23"/>
          <p:cNvSpPr/>
          <p:nvPr/>
        </p:nvSpPr>
        <p:spPr>
          <a:xfrm>
            <a:off x="7181088" y="324612"/>
            <a:ext cx="2284730" cy="754380"/>
          </a:xfrm>
          <a:custGeom>
            <a:avLst/>
            <a:gdLst/>
            <a:ahLst/>
            <a:cxnLst/>
            <a:rect l="l" t="t" r="r" b="b"/>
            <a:pathLst>
              <a:path w="2284729" h="754380">
                <a:moveTo>
                  <a:pt x="2284476" y="754379"/>
                </a:moveTo>
                <a:lnTo>
                  <a:pt x="0" y="754379"/>
                </a:lnTo>
                <a:lnTo>
                  <a:pt x="0" y="0"/>
                </a:lnTo>
                <a:lnTo>
                  <a:pt x="2284476" y="0"/>
                </a:lnTo>
                <a:lnTo>
                  <a:pt x="2284476" y="754379"/>
                </a:lnTo>
                <a:close/>
              </a:path>
            </a:pathLst>
          </a:custGeom>
          <a:solidFill>
            <a:srgbClr val="FFFFFF"/>
          </a:solidFill>
        </p:spPr>
        <p:txBody>
          <a:bodyPr wrap="square" lIns="0" tIns="0" rIns="0" bIns="0" rtlCol="0"/>
          <a:lstStyle/>
          <a:p/>
        </p:txBody>
      </p:sp>
      <p:pic>
        <p:nvPicPr>
          <p:cNvPr id="24" name="bg object 24"/>
          <p:cNvPicPr/>
          <p:nvPr/>
        </p:nvPicPr>
        <p:blipFill>
          <a:blip r:embed="rId8" cstate="print"/>
          <a:stretch>
            <a:fillRect/>
          </a:stretch>
        </p:blipFill>
        <p:spPr>
          <a:xfrm>
            <a:off x="7208520" y="365760"/>
            <a:ext cx="2113787" cy="670560"/>
          </a:xfrm>
          <a:prstGeom prst="rect">
            <a:avLst/>
          </a:prstGeom>
        </p:spPr>
      </p:pic>
      <p:sp>
        <p:nvSpPr>
          <p:cNvPr id="2" name="Holder 2"/>
          <p:cNvSpPr>
            <a:spLocks noGrp="1"/>
          </p:cNvSpPr>
          <p:nvPr>
            <p:ph type="title"/>
          </p:nvPr>
        </p:nvSpPr>
        <p:spPr>
          <a:xfrm>
            <a:off x="1346733" y="278373"/>
            <a:ext cx="4933315" cy="578128"/>
          </a:xfrm>
          <a:prstGeom prst="rect">
            <a:avLst/>
          </a:prstGeom>
        </p:spPr>
        <p:txBody>
          <a:bodyPr wrap="square" lIns="0" tIns="0" rIns="0" bIns="0">
            <a:spAutoFit/>
          </a:bodyPr>
          <a:lstStyle>
            <a:lvl1pPr>
              <a:defRPr sz="3500" b="0" i="0">
                <a:solidFill>
                  <a:schemeClr val="tx1"/>
                </a:solidFill>
                <a:latin typeface="Times New Roman" panose="02020603050405020304"/>
                <a:cs typeface="Times New Roman" panose="02020603050405020304"/>
              </a:defRPr>
            </a:lvl1pPr>
          </a:lstStyle>
          <a:p/>
        </p:txBody>
      </p:sp>
      <p:sp>
        <p:nvSpPr>
          <p:cNvPr id="3" name="Holder 3"/>
          <p:cNvSpPr>
            <a:spLocks noGrp="1"/>
          </p:cNvSpPr>
          <p:nvPr>
            <p:ph type="body" idx="1"/>
          </p:nvPr>
        </p:nvSpPr>
        <p:spPr>
          <a:xfrm>
            <a:off x="269210" y="1360345"/>
            <a:ext cx="9408160" cy="4049395"/>
          </a:xfrm>
          <a:prstGeom prst="rect">
            <a:avLst/>
          </a:prstGeom>
        </p:spPr>
        <p:txBody>
          <a:bodyPr wrap="square" lIns="0" tIns="0" rIns="0" bIns="0">
            <a:spAutoFit/>
          </a:bodyPr>
          <a:lstStyle>
            <a:lvl1pPr>
              <a:defRPr sz="2650" b="0" i="0">
                <a:solidFill>
                  <a:schemeClr val="tx1"/>
                </a:solidFill>
                <a:latin typeface="Times New Roman" panose="02020603050405020304"/>
                <a:cs typeface="Times New Roman" panose="02020603050405020304"/>
              </a:defRPr>
            </a:lvl1pPr>
          </a:lstStyle>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9331497" y="7227086"/>
            <a:ext cx="173990" cy="193040"/>
          </a:xfrm>
          <a:prstGeom prst="rect">
            <a:avLst/>
          </a:prstGeom>
        </p:spPr>
        <p:txBody>
          <a:bodyPr wrap="square" lIns="0" tIns="0" rIns="0" bIns="0">
            <a:spAutoFit/>
          </a:bodyPr>
          <a:lstStyle>
            <a:lvl1pPr>
              <a:defRPr sz="1300" b="1" i="0">
                <a:solidFill>
                  <a:schemeClr val="tx1"/>
                </a:solidFill>
                <a:latin typeface="Calibri" panose="020F0502020204030204"/>
                <a:cs typeface="Calibri" panose="020F0502020204030204"/>
              </a:defRPr>
            </a:lvl1pPr>
          </a:lstStyle>
          <a:p>
            <a:pPr marL="38100">
              <a:lnSpc>
                <a:spcPts val="1350"/>
              </a:lnSpc>
            </a:pPr>
            <a:fld id="{81D60167-4931-47E6-BA6A-407CBD079E47}" type="slidenum">
              <a:rPr spc="-50" dirty="0"/>
            </a:fld>
            <a:endParaRPr spc="-5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6200" y="1016868"/>
            <a:ext cx="9677400" cy="6116320"/>
          </a:xfrm>
          <a:prstGeom prst="rect">
            <a:avLst/>
          </a:prstGeom>
        </p:spPr>
        <p:txBody>
          <a:bodyPr vert="horz" wrap="square" lIns="0" tIns="67310" rIns="0" bIns="0" rtlCol="0">
            <a:spAutoFit/>
          </a:bodyPr>
          <a:lstStyle/>
          <a:p>
            <a:pPr algn="ctr">
              <a:lnSpc>
                <a:spcPct val="100000"/>
              </a:lnSpc>
              <a:spcBef>
                <a:spcPts val="400"/>
              </a:spcBef>
            </a:pP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IN" sz="2400" dirty="0">
                <a:latin typeface="Times New Roman" panose="02020603050405020304" pitchFamily="18" charset="0"/>
                <a:ea typeface="Calibri" panose="020F0502020204030204" pitchFamily="34" charset="0"/>
                <a:cs typeface="Times New Roman" panose="02020603050405020304" pitchFamily="18" charset="0"/>
              </a:rPr>
              <a:t>Project Presentation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Calibri" panose="020F0502020204030204" pitchFamily="34" charset="0"/>
                <a:cs typeface="Times New Roman" panose="02020603050405020304" pitchFamily="18" charset="0"/>
              </a:rPr>
              <a:t>On</a:t>
            </a:r>
            <a:endParaRPr lang="en-US" sz="2400"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355"/>
              </a:spcBef>
            </a:pPr>
            <a:r>
              <a:rPr lang="en-US" altLang="en-US" sz="4000" dirty="0">
                <a:latin typeface="Times New Roman" panose="02020603050405020304"/>
                <a:cs typeface="Times New Roman" panose="02020603050405020304"/>
              </a:rPr>
              <a:t>Artificial Intelligence In Education</a:t>
            </a:r>
            <a:endParaRPr sz="4000" dirty="0">
              <a:latin typeface="Times New Roman" panose="02020603050405020304"/>
              <a:cs typeface="Times New Roman" panose="02020603050405020304"/>
            </a:endParaRPr>
          </a:p>
          <a:p>
            <a:pPr algn="ctr">
              <a:lnSpc>
                <a:spcPct val="100000"/>
              </a:lnSpc>
              <a:spcBef>
                <a:spcPts val="80"/>
              </a:spcBef>
            </a:pPr>
            <a:r>
              <a:rPr lang="en-US" altLang="en-US" sz="2200" spc="-10" dirty="0">
                <a:latin typeface="Times New Roman" panose="02020603050405020304"/>
                <a:cs typeface="Times New Roman" panose="02020603050405020304"/>
              </a:rPr>
              <a:t>By</a:t>
            </a:r>
            <a:endParaRPr lang="en-US" altLang="en-US" sz="2200" spc="-10" dirty="0">
              <a:latin typeface="Times New Roman" panose="02020603050405020304"/>
              <a:cs typeface="Times New Roman" panose="02020603050405020304"/>
            </a:endParaRPr>
          </a:p>
          <a:p>
            <a:pPr algn="ctr">
              <a:lnSpc>
                <a:spcPct val="100000"/>
              </a:lnSpc>
              <a:spcBef>
                <a:spcPts val="80"/>
              </a:spcBef>
            </a:pPr>
            <a:r>
              <a:rPr lang="en-US" altLang="en-US" sz="2200" spc="-10" dirty="0">
                <a:latin typeface="Times New Roman" panose="02020603050405020304"/>
                <a:cs typeface="Times New Roman" panose="02020603050405020304"/>
              </a:rPr>
              <a:t>Raghav Dua(</a:t>
            </a:r>
            <a:r>
              <a:rPr lang="en-US" altLang="en-US" sz="2200" spc="-10" dirty="0">
                <a:latin typeface="Times New Roman" panose="02020603050405020304"/>
                <a:cs typeface="Times New Roman" panose="02020603050405020304"/>
              </a:rPr>
              <a:t>2210990697)</a:t>
            </a:r>
            <a:endParaRPr lang="en-US" altLang="en-US" sz="2200" spc="-10" dirty="0">
              <a:latin typeface="Times New Roman" panose="02020603050405020304"/>
              <a:cs typeface="Times New Roman" panose="02020603050405020304"/>
            </a:endParaRPr>
          </a:p>
          <a:p>
            <a:pPr algn="ctr">
              <a:lnSpc>
                <a:spcPct val="100000"/>
              </a:lnSpc>
              <a:spcBef>
                <a:spcPts val="80"/>
              </a:spcBef>
            </a:pPr>
            <a:r>
              <a:rPr lang="en-US" altLang="en-US" sz="2200" spc="-30" dirty="0">
                <a:latin typeface="Times New Roman" panose="02020603050405020304"/>
                <a:cs typeface="Times New Roman" panose="02020603050405020304"/>
                <a:sym typeface="+mn-ea"/>
              </a:rPr>
              <a:t>Gourvi Sharma</a:t>
            </a:r>
            <a:r>
              <a:rPr sz="2200" spc="-30" dirty="0">
                <a:latin typeface="Times New Roman" panose="02020603050405020304"/>
                <a:cs typeface="Times New Roman" panose="02020603050405020304"/>
                <a:sym typeface="+mn-ea"/>
              </a:rPr>
              <a:t> </a:t>
            </a:r>
            <a:r>
              <a:rPr sz="2200" spc="-10" dirty="0">
                <a:latin typeface="Times New Roman" panose="02020603050405020304"/>
                <a:cs typeface="Times New Roman" panose="02020603050405020304"/>
                <a:sym typeface="+mn-ea"/>
              </a:rPr>
              <a:t>(2210991</a:t>
            </a:r>
            <a:r>
              <a:rPr lang="en-US" altLang="en-US" sz="2200" spc="-10" dirty="0">
                <a:latin typeface="Times New Roman" panose="02020603050405020304"/>
                <a:cs typeface="Times New Roman" panose="02020603050405020304"/>
                <a:sym typeface="+mn-ea"/>
              </a:rPr>
              <a:t>585</a:t>
            </a:r>
            <a:r>
              <a:rPr sz="2200" spc="-10" dirty="0">
                <a:latin typeface="Times New Roman" panose="02020603050405020304"/>
                <a:cs typeface="Times New Roman" panose="02020603050405020304"/>
                <a:sym typeface="+mn-ea"/>
              </a:rPr>
              <a:t>)</a:t>
            </a:r>
            <a:endParaRPr lang="en-US" altLang="en-US" sz="2200" spc="-10" dirty="0">
              <a:latin typeface="Times New Roman" panose="02020603050405020304"/>
              <a:cs typeface="Times New Roman" panose="02020603050405020304"/>
            </a:endParaRPr>
          </a:p>
          <a:p>
            <a:pPr algn="ctr">
              <a:lnSpc>
                <a:spcPct val="100000"/>
              </a:lnSpc>
              <a:spcBef>
                <a:spcPts val="80"/>
              </a:spcBef>
            </a:pPr>
            <a:r>
              <a:rPr lang="en-US" altLang="en-US" sz="2200" spc="-10" dirty="0">
                <a:latin typeface="Times New Roman" panose="02020603050405020304"/>
                <a:cs typeface="Times New Roman" panose="02020603050405020304"/>
              </a:rPr>
              <a:t>Gagan Bansal(</a:t>
            </a:r>
            <a:r>
              <a:rPr lang="en-US" altLang="en-US" sz="2200" spc="-10" dirty="0">
                <a:latin typeface="Times New Roman" panose="02020603050405020304"/>
                <a:cs typeface="Times New Roman" panose="02020603050405020304"/>
              </a:rPr>
              <a:t>2210991558)</a:t>
            </a:r>
            <a:endParaRPr lang="en-US" altLang="en-US" sz="2200" spc="-10" dirty="0">
              <a:latin typeface="Times New Roman" panose="02020603050405020304"/>
              <a:cs typeface="Times New Roman" panose="02020603050405020304"/>
            </a:endParaRPr>
          </a:p>
          <a:p>
            <a:pPr algn="ctr">
              <a:lnSpc>
                <a:spcPct val="100000"/>
              </a:lnSpc>
              <a:spcBef>
                <a:spcPts val="80"/>
              </a:spcBef>
            </a:pPr>
            <a:r>
              <a:rPr lang="en-US" altLang="en-US" sz="2200" spc="-10" dirty="0">
                <a:latin typeface="Times New Roman" panose="02020603050405020304"/>
                <a:cs typeface="Times New Roman" panose="02020603050405020304"/>
              </a:rPr>
              <a:t>Lakshey Asija(</a:t>
            </a:r>
            <a:r>
              <a:rPr lang="en-US" altLang="en-US" sz="2200" spc="-10" dirty="0">
                <a:latin typeface="Times New Roman" panose="02020603050405020304"/>
                <a:cs typeface="Times New Roman" panose="02020603050405020304"/>
              </a:rPr>
              <a:t>2210991843)</a:t>
            </a:r>
            <a:endParaRPr lang="en-US" altLang="en-US" sz="2200" spc="-10" dirty="0">
              <a:latin typeface="Times New Roman" panose="02020603050405020304"/>
              <a:cs typeface="Times New Roman" panose="02020603050405020304"/>
            </a:endParaRPr>
          </a:p>
          <a:p>
            <a:pPr algn="ctr">
              <a:lnSpc>
                <a:spcPct val="100000"/>
              </a:lnSpc>
              <a:spcBef>
                <a:spcPts val="80"/>
              </a:spcBef>
            </a:pPr>
            <a:endParaRPr sz="2200" dirty="0">
              <a:latin typeface="Times New Roman" panose="02020603050405020304"/>
              <a:cs typeface="Times New Roman" panose="02020603050405020304"/>
            </a:endParaRPr>
          </a:p>
          <a:p>
            <a:pPr>
              <a:lnSpc>
                <a:spcPct val="100000"/>
              </a:lnSpc>
              <a:spcBef>
                <a:spcPts val="545"/>
              </a:spcBef>
            </a:pPr>
            <a:r>
              <a:rPr lang="en-US" altLang="en-US" sz="2200" dirty="0">
                <a:latin typeface="Times New Roman" panose="02020603050405020304"/>
                <a:cs typeface="Times New Roman" panose="02020603050405020304"/>
              </a:rPr>
              <a:t>                                                  </a:t>
            </a:r>
            <a:r>
              <a:rPr sz="2200" dirty="0">
                <a:latin typeface="Times New Roman" panose="02020603050405020304"/>
                <a:cs typeface="Times New Roman" panose="02020603050405020304"/>
              </a:rPr>
              <a:t>Supervised</a:t>
            </a:r>
            <a:r>
              <a:rPr sz="2200" spc="-120" dirty="0">
                <a:latin typeface="Times New Roman" panose="02020603050405020304"/>
                <a:cs typeface="Times New Roman" panose="02020603050405020304"/>
              </a:rPr>
              <a:t> </a:t>
            </a:r>
            <a:r>
              <a:rPr sz="2200" spc="-25" dirty="0">
                <a:latin typeface="Times New Roman" panose="02020603050405020304"/>
                <a:cs typeface="Times New Roman" panose="02020603050405020304"/>
              </a:rPr>
              <a:t>By </a:t>
            </a:r>
            <a:r>
              <a:rPr lang="en-US" altLang="en-US" sz="2200" spc="-25" dirty="0">
                <a:latin typeface="Times New Roman" panose="02020603050405020304"/>
                <a:cs typeface="Times New Roman" panose="02020603050405020304"/>
              </a:rPr>
              <a:t>M</a:t>
            </a:r>
            <a:r>
              <a:rPr sz="2200" spc="-50" dirty="0">
                <a:latin typeface="Times New Roman" panose="02020603050405020304"/>
                <a:cs typeface="Times New Roman" panose="02020603050405020304"/>
              </a:rPr>
              <a:t>r.</a:t>
            </a:r>
            <a:r>
              <a:rPr lang="en-IN" sz="2200" spc="-135" dirty="0">
                <a:latin typeface="Times New Roman" panose="02020603050405020304"/>
                <a:cs typeface="Times New Roman" panose="02020603050405020304"/>
              </a:rPr>
              <a:t> </a:t>
            </a:r>
            <a:r>
              <a:rPr lang="en-US" altLang="en-IN" sz="2200" spc="-135" dirty="0">
                <a:latin typeface="Times New Roman" panose="02020603050405020304"/>
                <a:cs typeface="Times New Roman" panose="02020603050405020304"/>
              </a:rPr>
              <a:t>Ajay</a:t>
            </a:r>
            <a:endParaRPr lang="en-US" altLang="en-IN" sz="2200" spc="-135" dirty="0">
              <a:latin typeface="Times New Roman" panose="02020603050405020304"/>
              <a:cs typeface="Times New Roman" panose="02020603050405020304"/>
            </a:endParaRPr>
          </a:p>
          <a:p>
            <a:pPr>
              <a:lnSpc>
                <a:spcPct val="100000"/>
              </a:lnSpc>
              <a:spcBef>
                <a:spcPts val="545"/>
              </a:spcBef>
            </a:pPr>
            <a:endParaRPr sz="2200" dirty="0">
              <a:latin typeface="Times New Roman" panose="02020603050405020304"/>
              <a:cs typeface="Times New Roman" panose="02020603050405020304"/>
            </a:endParaRPr>
          </a:p>
          <a:p>
            <a:pPr>
              <a:lnSpc>
                <a:spcPct val="100000"/>
              </a:lnSpc>
              <a:spcBef>
                <a:spcPts val="545"/>
              </a:spcBef>
            </a:pPr>
            <a:endParaRPr sz="2200" dirty="0">
              <a:latin typeface="Times New Roman" panose="02020603050405020304"/>
              <a:cs typeface="Times New Roman" panose="02020603050405020304"/>
            </a:endParaRPr>
          </a:p>
          <a:p>
            <a:pPr marL="440690" marR="432435" algn="ctr">
              <a:lnSpc>
                <a:spcPct val="113000"/>
              </a:lnSpc>
            </a:pPr>
            <a:r>
              <a:rPr sz="2650" spc="-10" dirty="0">
                <a:latin typeface="Times New Roman" panose="02020603050405020304"/>
                <a:cs typeface="Times New Roman" panose="02020603050405020304"/>
              </a:rPr>
              <a:t>Department</a:t>
            </a:r>
            <a:r>
              <a:rPr sz="2650" spc="-105" dirty="0">
                <a:latin typeface="Times New Roman" panose="02020603050405020304"/>
                <a:cs typeface="Times New Roman" panose="02020603050405020304"/>
              </a:rPr>
              <a:t> </a:t>
            </a:r>
            <a:r>
              <a:rPr sz="2650" dirty="0">
                <a:latin typeface="Times New Roman" panose="02020603050405020304"/>
                <a:cs typeface="Times New Roman" panose="02020603050405020304"/>
              </a:rPr>
              <a:t>of</a:t>
            </a:r>
            <a:r>
              <a:rPr sz="2650" spc="-65" dirty="0">
                <a:latin typeface="Times New Roman" panose="02020603050405020304"/>
                <a:cs typeface="Times New Roman" panose="02020603050405020304"/>
              </a:rPr>
              <a:t> </a:t>
            </a:r>
            <a:r>
              <a:rPr sz="2650" dirty="0">
                <a:latin typeface="Times New Roman" panose="02020603050405020304"/>
                <a:cs typeface="Times New Roman" panose="02020603050405020304"/>
              </a:rPr>
              <a:t>Computer</a:t>
            </a:r>
            <a:r>
              <a:rPr sz="2650" spc="-95" dirty="0">
                <a:latin typeface="Times New Roman" panose="02020603050405020304"/>
                <a:cs typeface="Times New Roman" panose="02020603050405020304"/>
              </a:rPr>
              <a:t> </a:t>
            </a:r>
            <a:r>
              <a:rPr sz="2650" dirty="0">
                <a:latin typeface="Times New Roman" panose="02020603050405020304"/>
                <a:cs typeface="Times New Roman" panose="02020603050405020304"/>
              </a:rPr>
              <a:t>Science</a:t>
            </a:r>
            <a:r>
              <a:rPr sz="2650" spc="-90" dirty="0">
                <a:latin typeface="Times New Roman" panose="02020603050405020304"/>
                <a:cs typeface="Times New Roman" panose="02020603050405020304"/>
              </a:rPr>
              <a:t> </a:t>
            </a:r>
            <a:r>
              <a:rPr sz="2650" dirty="0">
                <a:latin typeface="Times New Roman" panose="02020603050405020304"/>
                <a:cs typeface="Times New Roman" panose="02020603050405020304"/>
              </a:rPr>
              <a:t>and</a:t>
            </a:r>
            <a:r>
              <a:rPr sz="2650" spc="-80" dirty="0">
                <a:latin typeface="Times New Roman" panose="02020603050405020304"/>
                <a:cs typeface="Times New Roman" panose="02020603050405020304"/>
              </a:rPr>
              <a:t> </a:t>
            </a:r>
            <a:r>
              <a:rPr sz="2650" spc="-10" dirty="0">
                <a:latin typeface="Times New Roman" panose="02020603050405020304"/>
                <a:cs typeface="Times New Roman" panose="02020603050405020304"/>
              </a:rPr>
              <a:t>Engineering, </a:t>
            </a:r>
            <a:r>
              <a:rPr sz="2650" dirty="0">
                <a:latin typeface="Times New Roman" panose="02020603050405020304"/>
                <a:cs typeface="Times New Roman" panose="02020603050405020304"/>
              </a:rPr>
              <a:t>Chitkara</a:t>
            </a:r>
            <a:r>
              <a:rPr sz="2650" spc="-130" dirty="0">
                <a:latin typeface="Times New Roman" panose="02020603050405020304"/>
                <a:cs typeface="Times New Roman" panose="02020603050405020304"/>
              </a:rPr>
              <a:t> </a:t>
            </a:r>
            <a:r>
              <a:rPr sz="2650" spc="-20" dirty="0">
                <a:latin typeface="Times New Roman" panose="02020603050405020304"/>
                <a:cs typeface="Times New Roman" panose="02020603050405020304"/>
              </a:rPr>
              <a:t>University,</a:t>
            </a:r>
            <a:r>
              <a:rPr sz="2650" spc="-120" dirty="0">
                <a:latin typeface="Times New Roman" panose="02020603050405020304"/>
                <a:cs typeface="Times New Roman" panose="02020603050405020304"/>
              </a:rPr>
              <a:t> </a:t>
            </a:r>
            <a:r>
              <a:rPr sz="2650" spc="-10" dirty="0">
                <a:latin typeface="Times New Roman" panose="02020603050405020304"/>
                <a:cs typeface="Times New Roman" panose="02020603050405020304"/>
              </a:rPr>
              <a:t>Punjab</a:t>
            </a:r>
            <a:endParaRPr sz="2650" dirty="0">
              <a:latin typeface="Times New Roman" panose="02020603050405020304"/>
              <a:cs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350"/>
              </a:lnSpc>
            </a:pPr>
            <a:fld id="{81D60167-4931-47E6-BA6A-407CBD079E47}" type="slidenum">
              <a:rPr spc="-50" dirty="0"/>
            </a:fld>
            <a:endParaRPr spc="-50" dirty="0"/>
          </a:p>
        </p:txBody>
      </p:sp>
      <p:sp>
        <p:nvSpPr>
          <p:cNvPr id="3" name="object 3"/>
          <p:cNvSpPr txBox="1"/>
          <p:nvPr/>
        </p:nvSpPr>
        <p:spPr>
          <a:xfrm>
            <a:off x="410845" y="1350010"/>
            <a:ext cx="8910955" cy="5295900"/>
          </a:xfrm>
          <a:prstGeom prst="rect">
            <a:avLst/>
          </a:prstGeom>
        </p:spPr>
        <p:txBody>
          <a:bodyPr vert="horz" wrap="square" lIns="0" tIns="11430" rIns="0" bIns="0" rtlCol="0">
            <a:noAutofit/>
          </a:bodyPr>
          <a:lstStyle/>
          <a:p>
            <a:pPr marL="12700" indent="0">
              <a:lnSpc>
                <a:spcPts val="3175"/>
              </a:lnSpc>
              <a:spcBef>
                <a:spcPts val="90"/>
              </a:spcBef>
              <a:buSzPct val="57000"/>
              <a:buNone/>
              <a:tabLst>
                <a:tab pos="514350" algn="l"/>
              </a:tabLst>
            </a:pPr>
            <a:r>
              <a:rPr lang="en-US" altLang="en-US" sz="2650">
                <a:latin typeface="Times New Roman" panose="02020603050405020304"/>
                <a:cs typeface="Times New Roman" panose="02020603050405020304"/>
              </a:rPr>
              <a:t>Traditional education systems face challenges like lack of personalization, large class sizes, and delayed feedback.These issues reduce learning efficiency and student engagement.Therefore, the shift to digital learning has increased the need for smarter solutions.</a:t>
            </a:r>
            <a:endParaRPr lang="en-US" altLang="en-US" sz="2650">
              <a:latin typeface="Times New Roman" panose="02020603050405020304"/>
              <a:cs typeface="Times New Roman" panose="02020603050405020304"/>
            </a:endParaRPr>
          </a:p>
          <a:p>
            <a:pPr marL="12700" indent="0">
              <a:lnSpc>
                <a:spcPts val="3175"/>
              </a:lnSpc>
              <a:spcBef>
                <a:spcPts val="90"/>
              </a:spcBef>
              <a:buSzPct val="57000"/>
              <a:buNone/>
              <a:tabLst>
                <a:tab pos="514350" algn="l"/>
              </a:tabLst>
            </a:pPr>
            <a:endParaRPr lang="en-US" altLang="en-US" sz="2650">
              <a:latin typeface="Times New Roman" panose="02020603050405020304"/>
              <a:cs typeface="Times New Roman" panose="02020603050405020304"/>
            </a:endParaRPr>
          </a:p>
          <a:p>
            <a:pPr marL="469900" indent="-457200">
              <a:lnSpc>
                <a:spcPts val="3175"/>
              </a:lnSpc>
              <a:spcBef>
                <a:spcPts val="90"/>
              </a:spcBef>
              <a:buSzPct val="57000"/>
              <a:buFont typeface="Wingdings" panose="05000000000000000000" charset="0"/>
              <a:buChar char="Ø"/>
              <a:tabLst>
                <a:tab pos="514350" algn="l"/>
              </a:tabLst>
            </a:pPr>
            <a:r>
              <a:rPr lang="en-US" altLang="en-US" sz="2650">
                <a:latin typeface="Times New Roman" panose="02020603050405020304"/>
                <a:cs typeface="Times New Roman" panose="02020603050405020304"/>
              </a:rPr>
              <a:t>AI has emerged as a powerful tool to improve learning and teaching processes.</a:t>
            </a:r>
            <a:endParaRPr lang="en-US" altLang="en-US" sz="2650">
              <a:latin typeface="Times New Roman" panose="02020603050405020304"/>
              <a:cs typeface="Times New Roman" panose="02020603050405020304"/>
            </a:endParaRPr>
          </a:p>
          <a:p>
            <a:pPr marL="469900" indent="-457200">
              <a:lnSpc>
                <a:spcPts val="3175"/>
              </a:lnSpc>
              <a:spcBef>
                <a:spcPts val="90"/>
              </a:spcBef>
              <a:buSzPct val="57000"/>
              <a:buFont typeface="Wingdings" panose="05000000000000000000" charset="0"/>
              <a:buChar char="Ø"/>
              <a:tabLst>
                <a:tab pos="514350" algn="l"/>
              </a:tabLst>
            </a:pPr>
            <a:r>
              <a:rPr lang="en-US" altLang="en-US" sz="2650">
                <a:latin typeface="Times New Roman" panose="02020603050405020304"/>
                <a:cs typeface="Times New Roman" panose="02020603050405020304"/>
              </a:rPr>
              <a:t>This study explores how AI can enhance assessment, tutoring, and personalization.</a:t>
            </a:r>
            <a:endParaRPr lang="en-US" altLang="en-US" sz="2650">
              <a:latin typeface="Times New Roman" panose="02020603050405020304"/>
              <a:cs typeface="Times New Roman" panose="02020603050405020304"/>
            </a:endParaRPr>
          </a:p>
          <a:p>
            <a:pPr marL="469900" indent="-457200">
              <a:lnSpc>
                <a:spcPts val="3175"/>
              </a:lnSpc>
              <a:spcBef>
                <a:spcPts val="90"/>
              </a:spcBef>
              <a:buSzPct val="57000"/>
              <a:buFont typeface="Wingdings" panose="05000000000000000000" charset="0"/>
              <a:buChar char="Ø"/>
              <a:tabLst>
                <a:tab pos="514350" algn="l"/>
              </a:tabLst>
            </a:pPr>
            <a:r>
              <a:rPr lang="en-US" altLang="en-US" sz="2650" b="1">
                <a:latin typeface="Times New Roman" panose="02020603050405020304"/>
                <a:cs typeface="Times New Roman" panose="02020603050405020304"/>
              </a:rPr>
              <a:t>Objective</a:t>
            </a:r>
            <a:r>
              <a:rPr lang="en-US" altLang="en-US" sz="2650">
                <a:latin typeface="Times New Roman" panose="02020603050405020304"/>
                <a:cs typeface="Times New Roman" panose="02020603050405020304"/>
              </a:rPr>
              <a:t>: To analyze effectiveness, challenges, and future scope of AI in education.</a:t>
            </a:r>
            <a:endParaRPr lang="en-US" altLang="en-US" sz="2650">
              <a:latin typeface="Times New Roman" panose="02020603050405020304"/>
              <a:cs typeface="Times New Roman" panose="02020603050405020304"/>
            </a:endParaRPr>
          </a:p>
        </p:txBody>
      </p:sp>
      <p:sp>
        <p:nvSpPr>
          <p:cNvPr id="5" name="Title 4"/>
          <p:cNvSpPr/>
          <p:nvPr>
            <p:ph type="title"/>
          </p:nvPr>
        </p:nvSpPr>
        <p:spPr>
          <a:xfrm>
            <a:off x="914298" y="278373"/>
            <a:ext cx="4933315" cy="538480"/>
          </a:xfrm>
        </p:spPr>
        <p:txBody>
          <a:bodyPr/>
          <a:p>
            <a:r>
              <a:rPr lang="en-US"/>
              <a:t>INTRODUCTION</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228600"/>
            <a:ext cx="4692650" cy="552450"/>
          </a:xfrm>
          <a:prstGeom prst="rect">
            <a:avLst/>
          </a:prstGeom>
        </p:spPr>
        <p:txBody>
          <a:bodyPr vert="horz" wrap="square" lIns="0" tIns="14604" rIns="0" bIns="0" rtlCol="0">
            <a:spAutoFit/>
          </a:bodyPr>
          <a:lstStyle/>
          <a:p>
            <a:pPr marL="1361440" algn="l">
              <a:lnSpc>
                <a:spcPct val="100000"/>
              </a:lnSpc>
              <a:spcBef>
                <a:spcPts val="115"/>
              </a:spcBef>
            </a:pPr>
            <a:r>
              <a:rPr lang="en-US" spc="-10" dirty="0"/>
              <a:t>BACKGROUND</a:t>
            </a:r>
            <a:endParaRPr lang="en-US" spc="-10" dirty="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350"/>
              </a:lnSpc>
            </a:pPr>
            <a:fld id="{81D60167-4931-47E6-BA6A-407CBD079E47}" type="slidenum">
              <a:rPr spc="-50" dirty="0"/>
            </a:fld>
            <a:endParaRPr spc="-50" dirty="0"/>
          </a:p>
        </p:txBody>
      </p:sp>
      <p:sp>
        <p:nvSpPr>
          <p:cNvPr id="3" name="object 3"/>
          <p:cNvSpPr txBox="1"/>
          <p:nvPr/>
        </p:nvSpPr>
        <p:spPr>
          <a:xfrm>
            <a:off x="410984" y="1295203"/>
            <a:ext cx="9394825" cy="3763010"/>
          </a:xfrm>
          <a:prstGeom prst="rect">
            <a:avLst/>
          </a:prstGeom>
        </p:spPr>
        <p:txBody>
          <a:bodyPr vert="horz" wrap="square" lIns="0" tIns="26034" rIns="0" bIns="0" rtlCol="0">
            <a:spAutoFit/>
          </a:bodyPr>
          <a:lstStyle/>
          <a:p>
            <a:pPr marL="12700" marR="6350" algn="just">
              <a:lnSpc>
                <a:spcPts val="3170"/>
              </a:lnSpc>
              <a:spcBef>
                <a:spcPts val="205"/>
              </a:spcBef>
            </a:pPr>
            <a:r>
              <a:rPr lang="en-US" altLang="en-US" sz="2650">
                <a:latin typeface="Times New Roman" panose="02020603050405020304"/>
                <a:cs typeface="Times New Roman" panose="02020603050405020304"/>
              </a:rPr>
              <a:t>Artificial Intelligence in education has evolved from simple rule-based systems to advanced models using machine learning and deep learning. These technologies are now widely used in automated assessment, intelligent tutoring, and personalized learning. However, most existing research focuses on individual areas, creating a gap in comprehensive analysis.</a:t>
            </a:r>
            <a:endParaRPr lang="en-US" altLang="en-US" sz="2650">
              <a:latin typeface="Times New Roman" panose="02020603050405020304"/>
              <a:cs typeface="Times New Roman" panose="02020603050405020304"/>
            </a:endParaRPr>
          </a:p>
          <a:p>
            <a:pPr marL="469900" marR="6350" indent="-457200" algn="just">
              <a:lnSpc>
                <a:spcPts val="3170"/>
              </a:lnSpc>
              <a:spcBef>
                <a:spcPts val="205"/>
              </a:spcBef>
              <a:buFont typeface="Wingdings" panose="05000000000000000000" charset="0"/>
              <a:buChar char="Ø"/>
            </a:pPr>
            <a:r>
              <a:rPr lang="en-US" altLang="en-US" sz="2650">
                <a:latin typeface="Times New Roman" panose="02020603050405020304"/>
                <a:cs typeface="Times New Roman" panose="02020603050405020304"/>
              </a:rPr>
              <a:t>Core technologies: Machine Learning, NLP, Deep Learning</a:t>
            </a:r>
            <a:endParaRPr lang="en-US" altLang="en-US" sz="2650">
              <a:latin typeface="Times New Roman" panose="02020603050405020304"/>
              <a:cs typeface="Times New Roman" panose="02020603050405020304"/>
            </a:endParaRPr>
          </a:p>
          <a:p>
            <a:pPr marL="469900" marR="6350" indent="-457200" algn="just">
              <a:lnSpc>
                <a:spcPts val="3170"/>
              </a:lnSpc>
              <a:spcBef>
                <a:spcPts val="205"/>
              </a:spcBef>
              <a:buFont typeface="Wingdings" panose="05000000000000000000" charset="0"/>
              <a:buChar char="Ø"/>
            </a:pPr>
            <a:r>
              <a:rPr lang="en-US" altLang="en-US" sz="2650">
                <a:latin typeface="Times New Roman" panose="02020603050405020304"/>
                <a:cs typeface="Times New Roman" panose="02020603050405020304"/>
              </a:rPr>
              <a:t>Evolution: Rule-based → AI-driven systems</a:t>
            </a:r>
            <a:endParaRPr lang="en-US" altLang="en-US" sz="2650">
              <a:latin typeface="Times New Roman" panose="02020603050405020304"/>
              <a:cs typeface="Times New Roman" panose="02020603050405020304"/>
            </a:endParaRPr>
          </a:p>
          <a:p>
            <a:pPr marL="469900" marR="6350" indent="-457200" algn="just">
              <a:lnSpc>
                <a:spcPts val="3170"/>
              </a:lnSpc>
              <a:spcBef>
                <a:spcPts val="205"/>
              </a:spcBef>
              <a:buFont typeface="Wingdings" panose="05000000000000000000" charset="0"/>
              <a:buChar char="Ø"/>
            </a:pPr>
            <a:r>
              <a:rPr lang="en-US" altLang="en-US" sz="2650">
                <a:latin typeface="Times New Roman" panose="02020603050405020304"/>
                <a:cs typeface="Times New Roman" panose="02020603050405020304"/>
              </a:rPr>
              <a:t>Research Gap: Lack of integrated analysis</a:t>
            </a:r>
            <a:endParaRPr lang="en-US" altLang="en-US" sz="2650">
              <a:latin typeface="Times New Roman" panose="02020603050405020304"/>
              <a:cs typeface="Times New Roman" panose="02020603050405020304"/>
            </a:endParaRPr>
          </a:p>
        </p:txBody>
      </p:sp>
      <p:pic>
        <p:nvPicPr>
          <p:cNvPr id="5" name="Picture 4" descr="Screenshot 2026-03-23 212204"/>
          <p:cNvPicPr>
            <a:picLocks noChangeAspect="1"/>
          </p:cNvPicPr>
          <p:nvPr/>
        </p:nvPicPr>
        <p:blipFill>
          <a:blip r:embed="rId1"/>
          <a:stretch>
            <a:fillRect/>
          </a:stretch>
        </p:blipFill>
        <p:spPr>
          <a:xfrm>
            <a:off x="1295400" y="5224780"/>
            <a:ext cx="7121525" cy="19507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59180" y="296545"/>
            <a:ext cx="4406900" cy="520065"/>
          </a:xfrm>
          <a:prstGeom prst="rect">
            <a:avLst/>
          </a:prstGeom>
        </p:spPr>
        <p:txBody>
          <a:bodyPr vert="horz" wrap="square" lIns="0" tIns="12700" rIns="0" bIns="0" rtlCol="0">
            <a:spAutoFit/>
          </a:bodyPr>
          <a:lstStyle/>
          <a:p>
            <a:pPr marL="12700">
              <a:lnSpc>
                <a:spcPct val="100000"/>
              </a:lnSpc>
              <a:spcBef>
                <a:spcPts val="100"/>
              </a:spcBef>
              <a:tabLst>
                <a:tab pos="959485" algn="l"/>
              </a:tabLst>
            </a:pPr>
            <a:r>
              <a:rPr lang="en-US" sz="3300"/>
              <a:t>METHODS</a:t>
            </a:r>
            <a:endParaRPr lang="en-US" sz="330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350"/>
              </a:lnSpc>
            </a:pPr>
            <a:fld id="{81D60167-4931-47E6-BA6A-407CBD079E47}" type="slidenum">
              <a:rPr spc="-50" dirty="0"/>
            </a:fld>
            <a:endParaRPr spc="-50" dirty="0"/>
          </a:p>
        </p:txBody>
      </p:sp>
      <p:sp>
        <p:nvSpPr>
          <p:cNvPr id="3" name="object 3"/>
          <p:cNvSpPr txBox="1"/>
          <p:nvPr/>
        </p:nvSpPr>
        <p:spPr>
          <a:xfrm>
            <a:off x="269210" y="1219375"/>
            <a:ext cx="9480550" cy="5850255"/>
          </a:xfrm>
          <a:prstGeom prst="rect">
            <a:avLst/>
          </a:prstGeom>
        </p:spPr>
        <p:txBody>
          <a:bodyPr vert="horz" wrap="square" lIns="0" tIns="11430" rIns="0" bIns="0" rtlCol="0">
            <a:spAutoFit/>
          </a:bodyPr>
          <a:lstStyle/>
          <a:p>
            <a:pPr marL="12700" indent="0">
              <a:lnSpc>
                <a:spcPts val="3175"/>
              </a:lnSpc>
              <a:spcBef>
                <a:spcPts val="90"/>
              </a:spcBef>
              <a:buNone/>
              <a:tabLst>
                <a:tab pos="514350" algn="l"/>
              </a:tabLst>
            </a:pPr>
            <a:endParaRPr sz="2800" b="1">
              <a:latin typeface="Times New Roman" panose="02020603050405020304"/>
              <a:cs typeface="Times New Roman" panose="02020603050405020304"/>
            </a:endParaRPr>
          </a:p>
          <a:p>
            <a:pPr marL="12700" indent="0">
              <a:lnSpc>
                <a:spcPts val="3175"/>
              </a:lnSpc>
              <a:spcBef>
                <a:spcPts val="90"/>
              </a:spcBef>
              <a:buNone/>
              <a:tabLst>
                <a:tab pos="514350" algn="l"/>
              </a:tabLst>
            </a:pPr>
            <a:r>
              <a:rPr lang="en-US" altLang="en-US" sz="2800" b="1">
                <a:latin typeface="Times New Roman" panose="02020603050405020304"/>
                <a:cs typeface="Times New Roman" panose="02020603050405020304"/>
              </a:rPr>
              <a:t>Research Approach:</a:t>
            </a:r>
            <a:endParaRPr lang="en-US" altLang="en-US" sz="2800" b="1">
              <a:latin typeface="Times New Roman" panose="02020603050405020304"/>
              <a:cs typeface="Times New Roman" panose="02020603050405020304"/>
            </a:endParaRPr>
          </a:p>
          <a:p>
            <a:pPr marL="469900" indent="-457200">
              <a:lnSpc>
                <a:spcPts val="3175"/>
              </a:lnSpc>
              <a:spcBef>
                <a:spcPts val="90"/>
              </a:spcBef>
              <a:buFont typeface="Wingdings" panose="05000000000000000000" charset="0"/>
              <a:buChar char="Ø"/>
              <a:tabLst>
                <a:tab pos="514350" algn="l"/>
              </a:tabLst>
            </a:pPr>
            <a:r>
              <a:rPr lang="en-US" altLang="en-US" sz="2650">
                <a:latin typeface="Times New Roman" panose="02020603050405020304"/>
                <a:cs typeface="Times New Roman" panose="02020603050405020304"/>
              </a:rPr>
              <a:t>A systematic literature review was conducted.</a:t>
            </a:r>
            <a:endParaRPr lang="en-US" altLang="en-US" sz="2650">
              <a:latin typeface="Times New Roman" panose="02020603050405020304"/>
              <a:cs typeface="Times New Roman" panose="02020603050405020304"/>
            </a:endParaRPr>
          </a:p>
          <a:p>
            <a:pPr marL="469900" indent="-457200">
              <a:lnSpc>
                <a:spcPts val="3175"/>
              </a:lnSpc>
              <a:spcBef>
                <a:spcPts val="90"/>
              </a:spcBef>
              <a:buFont typeface="Wingdings" panose="05000000000000000000" charset="0"/>
              <a:buChar char="Ø"/>
              <a:tabLst>
                <a:tab pos="514350" algn="l"/>
              </a:tabLst>
            </a:pPr>
            <a:r>
              <a:rPr lang="en-US" altLang="en-US" sz="2650">
                <a:latin typeface="Times New Roman" panose="02020603050405020304"/>
                <a:cs typeface="Times New Roman" panose="02020603050405020304"/>
              </a:rPr>
              <a:t>Research papers from 2015 to 2026 were analyzed.</a:t>
            </a:r>
            <a:endParaRPr lang="en-US" altLang="en-US" sz="2650">
              <a:latin typeface="Times New Roman" panose="02020603050405020304"/>
              <a:cs typeface="Times New Roman" panose="02020603050405020304"/>
            </a:endParaRPr>
          </a:p>
          <a:p>
            <a:pPr marL="469900" indent="-457200">
              <a:lnSpc>
                <a:spcPts val="3175"/>
              </a:lnSpc>
              <a:spcBef>
                <a:spcPts val="90"/>
              </a:spcBef>
              <a:buFont typeface="Wingdings" panose="05000000000000000000" charset="0"/>
              <a:buChar char="Ø"/>
              <a:tabLst>
                <a:tab pos="514350" algn="l"/>
              </a:tabLst>
            </a:pPr>
            <a:r>
              <a:rPr lang="en-US" altLang="en-US" sz="2650">
                <a:latin typeface="Times New Roman" panose="02020603050405020304"/>
                <a:cs typeface="Times New Roman" panose="02020603050405020304"/>
              </a:rPr>
              <a:t>Sources included IEEE, ACM, Springer, and other academic databases.</a:t>
            </a:r>
            <a:endParaRPr lang="en-US" altLang="en-US" sz="2650">
              <a:latin typeface="Times New Roman" panose="02020603050405020304"/>
              <a:cs typeface="Times New Roman" panose="02020603050405020304"/>
            </a:endParaRPr>
          </a:p>
          <a:p>
            <a:pPr marL="469900" indent="-457200">
              <a:lnSpc>
                <a:spcPts val="3175"/>
              </a:lnSpc>
              <a:spcBef>
                <a:spcPts val="90"/>
              </a:spcBef>
              <a:buFont typeface="Wingdings" panose="05000000000000000000" charset="0"/>
              <a:buChar char="Ø"/>
              <a:tabLst>
                <a:tab pos="514350" algn="l"/>
              </a:tabLst>
            </a:pPr>
            <a:endParaRPr lang="en-US" altLang="en-US" sz="2650">
              <a:latin typeface="Times New Roman" panose="02020603050405020304"/>
              <a:cs typeface="Times New Roman" panose="02020603050405020304"/>
            </a:endParaRPr>
          </a:p>
          <a:p>
            <a:pPr marL="12700" indent="0">
              <a:lnSpc>
                <a:spcPts val="3175"/>
              </a:lnSpc>
              <a:spcBef>
                <a:spcPts val="90"/>
              </a:spcBef>
              <a:buFont typeface="Wingdings" panose="05000000000000000000" charset="0"/>
              <a:buNone/>
              <a:tabLst>
                <a:tab pos="514350" algn="l"/>
              </a:tabLst>
            </a:pPr>
            <a:r>
              <a:rPr lang="en-US" altLang="en-US" sz="2800" b="1">
                <a:latin typeface="Times New Roman" panose="02020603050405020304"/>
                <a:cs typeface="Times New Roman" panose="02020603050405020304"/>
              </a:rPr>
              <a:t>Process:</a:t>
            </a:r>
            <a:endParaRPr lang="en-US" altLang="en-US" sz="2800" b="1">
              <a:latin typeface="Times New Roman" panose="02020603050405020304"/>
              <a:cs typeface="Times New Roman" panose="02020603050405020304"/>
            </a:endParaRPr>
          </a:p>
          <a:p>
            <a:pPr marL="12700" indent="0">
              <a:lnSpc>
                <a:spcPts val="3175"/>
              </a:lnSpc>
              <a:spcBef>
                <a:spcPts val="90"/>
              </a:spcBef>
              <a:buFont typeface="Wingdings" panose="05000000000000000000" charset="0"/>
              <a:buChar char="Ø"/>
              <a:tabLst>
                <a:tab pos="514350" algn="l"/>
              </a:tabLst>
            </a:pPr>
            <a:r>
              <a:rPr lang="en-US" altLang="en-US" sz="2650">
                <a:latin typeface="Times New Roman" panose="02020603050405020304"/>
                <a:cs typeface="Times New Roman" panose="02020603050405020304"/>
              </a:rPr>
              <a:t>Papers were filtered based on relevance and quality.</a:t>
            </a:r>
            <a:endParaRPr lang="en-US" altLang="en-US" sz="2650">
              <a:latin typeface="Times New Roman" panose="02020603050405020304"/>
              <a:cs typeface="Times New Roman" panose="02020603050405020304"/>
            </a:endParaRPr>
          </a:p>
          <a:p>
            <a:pPr marL="12700" indent="0">
              <a:lnSpc>
                <a:spcPts val="3175"/>
              </a:lnSpc>
              <a:spcBef>
                <a:spcPts val="90"/>
              </a:spcBef>
              <a:buFont typeface="Wingdings" panose="05000000000000000000" charset="0"/>
              <a:buChar char="Ø"/>
              <a:tabLst>
                <a:tab pos="514350" algn="l"/>
              </a:tabLst>
            </a:pPr>
            <a:r>
              <a:rPr lang="en-US" altLang="en-US" sz="2650">
                <a:latin typeface="Times New Roman" panose="02020603050405020304"/>
                <a:cs typeface="Times New Roman" panose="02020603050405020304"/>
              </a:rPr>
              <a:t>Studies were categorized into three domains:</a:t>
            </a:r>
            <a:endParaRPr lang="en-US" altLang="en-US" sz="2650">
              <a:latin typeface="Times New Roman" panose="02020603050405020304"/>
              <a:cs typeface="Times New Roman" panose="02020603050405020304"/>
            </a:endParaRPr>
          </a:p>
          <a:p>
            <a:pPr marL="12700" indent="0">
              <a:lnSpc>
                <a:spcPts val="3175"/>
              </a:lnSpc>
              <a:spcBef>
                <a:spcPts val="90"/>
              </a:spcBef>
              <a:buFont typeface="Wingdings" panose="05000000000000000000" charset="0"/>
              <a:buNone/>
              <a:tabLst>
                <a:tab pos="514350" algn="l"/>
              </a:tabLst>
            </a:pPr>
            <a:r>
              <a:rPr lang="en-US" altLang="en-US" sz="2650">
                <a:latin typeface="Times New Roman" panose="02020603050405020304"/>
                <a:cs typeface="Times New Roman" panose="02020603050405020304"/>
              </a:rPr>
              <a:t>         1. Automated Grading Systems</a:t>
            </a:r>
            <a:endParaRPr lang="en-US" altLang="en-US" sz="2650">
              <a:latin typeface="Times New Roman" panose="02020603050405020304"/>
              <a:cs typeface="Times New Roman" panose="02020603050405020304"/>
            </a:endParaRPr>
          </a:p>
          <a:p>
            <a:pPr marL="12700" indent="0">
              <a:lnSpc>
                <a:spcPts val="3175"/>
              </a:lnSpc>
              <a:spcBef>
                <a:spcPts val="90"/>
              </a:spcBef>
              <a:buFont typeface="Wingdings" panose="05000000000000000000" charset="0"/>
              <a:buNone/>
              <a:tabLst>
                <a:tab pos="514350" algn="l"/>
              </a:tabLst>
            </a:pPr>
            <a:r>
              <a:rPr lang="en-US" altLang="en-US" sz="2650">
                <a:latin typeface="Times New Roman" panose="02020603050405020304"/>
                <a:cs typeface="Times New Roman" panose="02020603050405020304"/>
              </a:rPr>
              <a:t>         2. Intelligent Tutoring Systems</a:t>
            </a:r>
            <a:endParaRPr lang="en-US" altLang="en-US" sz="2650">
              <a:latin typeface="Times New Roman" panose="02020603050405020304"/>
              <a:cs typeface="Times New Roman" panose="02020603050405020304"/>
            </a:endParaRPr>
          </a:p>
          <a:p>
            <a:pPr marL="12700" indent="0">
              <a:lnSpc>
                <a:spcPts val="3175"/>
              </a:lnSpc>
              <a:spcBef>
                <a:spcPts val="90"/>
              </a:spcBef>
              <a:buFont typeface="Wingdings" panose="05000000000000000000" charset="0"/>
              <a:buNone/>
              <a:tabLst>
                <a:tab pos="514350" algn="l"/>
              </a:tabLst>
            </a:pPr>
            <a:r>
              <a:rPr lang="en-US" altLang="en-US" sz="2650">
                <a:latin typeface="Times New Roman" panose="02020603050405020304"/>
                <a:cs typeface="Times New Roman" panose="02020603050405020304"/>
              </a:rPr>
              <a:t>         3. Adaptive Learning Platforms</a:t>
            </a:r>
            <a:endParaRPr lang="en-US" altLang="en-US" sz="2650">
              <a:latin typeface="Times New Roman" panose="02020603050405020304"/>
              <a:cs typeface="Times New Roman" panose="02020603050405020304"/>
            </a:endParaRPr>
          </a:p>
          <a:p>
            <a:pPr marL="12700" indent="0">
              <a:lnSpc>
                <a:spcPts val="3175"/>
              </a:lnSpc>
              <a:spcBef>
                <a:spcPts val="90"/>
              </a:spcBef>
              <a:buFont typeface="Wingdings" panose="05000000000000000000" charset="0"/>
              <a:buChar char="Ø"/>
              <a:tabLst>
                <a:tab pos="514350" algn="l"/>
              </a:tabLst>
            </a:pPr>
            <a:r>
              <a:rPr lang="en-US" altLang="en-US" sz="2650">
                <a:latin typeface="Times New Roman" panose="02020603050405020304"/>
                <a:cs typeface="Times New Roman" panose="02020603050405020304"/>
              </a:rPr>
              <a:t>Comparative analysis was performed.</a:t>
            </a:r>
            <a:endParaRPr lang="en-US" altLang="en-US" sz="2650">
              <a:latin typeface="Times New Roman" panose="02020603050405020304"/>
              <a:cs typeface="Times New Roman" panose="020206030504050203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44" y="305043"/>
            <a:ext cx="3592829" cy="552450"/>
          </a:xfrm>
          <a:prstGeom prst="rect">
            <a:avLst/>
          </a:prstGeom>
        </p:spPr>
        <p:txBody>
          <a:bodyPr vert="horz" wrap="square" lIns="0" tIns="14604" rIns="0" bIns="0" rtlCol="0">
            <a:spAutoFit/>
          </a:bodyPr>
          <a:lstStyle/>
          <a:p>
            <a:pPr marL="12700">
              <a:lnSpc>
                <a:spcPct val="100000"/>
              </a:lnSpc>
              <a:spcBef>
                <a:spcPts val="115"/>
              </a:spcBef>
              <a:tabLst>
                <a:tab pos="1097280" algn="l"/>
              </a:tabLst>
            </a:pPr>
            <a:r>
              <a:rPr lang="en-US" spc="-10" dirty="0"/>
              <a:t>RESULTS</a:t>
            </a:r>
            <a:endParaRPr lang="en-US" spc="-10" dirty="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350"/>
              </a:lnSpc>
            </a:pPr>
            <a:fld id="{81D60167-4931-47E6-BA6A-407CBD079E47}" type="slidenum">
              <a:rPr spc="-50" dirty="0"/>
            </a:fld>
            <a:endParaRPr spc="-50" dirty="0"/>
          </a:p>
        </p:txBody>
      </p:sp>
      <p:sp>
        <p:nvSpPr>
          <p:cNvPr id="3" name="object 3"/>
          <p:cNvSpPr txBox="1"/>
          <p:nvPr/>
        </p:nvSpPr>
        <p:spPr>
          <a:xfrm>
            <a:off x="226645" y="1209567"/>
            <a:ext cx="9316085" cy="5850255"/>
          </a:xfrm>
          <a:prstGeom prst="rect">
            <a:avLst/>
          </a:prstGeom>
        </p:spPr>
        <p:txBody>
          <a:bodyPr vert="horz" wrap="square" lIns="0" tIns="11430" rIns="0" bIns="0" rtlCol="0">
            <a:spAutoFit/>
          </a:bodyPr>
          <a:lstStyle/>
          <a:p>
            <a:pPr marL="12700" indent="0">
              <a:lnSpc>
                <a:spcPts val="3175"/>
              </a:lnSpc>
              <a:spcBef>
                <a:spcPts val="90"/>
              </a:spcBef>
              <a:buNone/>
              <a:tabLst>
                <a:tab pos="514350" algn="l"/>
              </a:tabLst>
            </a:pPr>
            <a:r>
              <a:rPr lang="en-US" altLang="en-US" sz="2800" b="1">
                <a:latin typeface="Times New Roman" panose="02020603050405020304"/>
                <a:cs typeface="Times New Roman" panose="02020603050405020304"/>
              </a:rPr>
              <a:t>Automated Grading Systems</a:t>
            </a:r>
            <a:endParaRPr lang="en-US" altLang="en-US" sz="2800" b="1">
              <a:latin typeface="Times New Roman" panose="02020603050405020304"/>
              <a:cs typeface="Times New Roman" panose="02020603050405020304"/>
            </a:endParaRPr>
          </a:p>
          <a:p>
            <a:pPr marL="469900" indent="-457200">
              <a:lnSpc>
                <a:spcPts val="3175"/>
              </a:lnSpc>
              <a:spcBef>
                <a:spcPts val="90"/>
              </a:spcBef>
              <a:buFont typeface="Wingdings" panose="05000000000000000000" charset="0"/>
              <a:buChar char="Ø"/>
              <a:tabLst>
                <a:tab pos="514350" algn="l"/>
              </a:tabLst>
            </a:pPr>
            <a:r>
              <a:rPr lang="en-US" altLang="en-US" sz="2400" b="0">
                <a:latin typeface="Times New Roman" panose="02020603050405020304"/>
                <a:cs typeface="Times New Roman" panose="02020603050405020304"/>
              </a:rPr>
              <a:t>AI-based grading systems provide fast and consistent evaluation.</a:t>
            </a:r>
            <a:endParaRPr lang="en-US" altLang="en-US" sz="2400" b="0">
              <a:latin typeface="Times New Roman" panose="02020603050405020304"/>
              <a:cs typeface="Times New Roman" panose="02020603050405020304"/>
            </a:endParaRPr>
          </a:p>
          <a:p>
            <a:pPr marL="469900" indent="-457200">
              <a:lnSpc>
                <a:spcPts val="3175"/>
              </a:lnSpc>
              <a:spcBef>
                <a:spcPts val="90"/>
              </a:spcBef>
              <a:buFont typeface="Wingdings" panose="05000000000000000000" charset="0"/>
              <a:buChar char="Ø"/>
              <a:tabLst>
                <a:tab pos="514350" algn="l"/>
              </a:tabLst>
            </a:pPr>
            <a:r>
              <a:rPr lang="en-US" altLang="en-US" sz="2400" b="0">
                <a:latin typeface="Times New Roman" panose="02020603050405020304"/>
                <a:cs typeface="Times New Roman" panose="02020603050405020304"/>
              </a:rPr>
              <a:t>They use NLP and machine learning for tasks like essay scoring and code evaluation.</a:t>
            </a:r>
            <a:endParaRPr lang="en-US" altLang="en-US" sz="2400" b="0">
              <a:latin typeface="Times New Roman" panose="02020603050405020304"/>
              <a:cs typeface="Times New Roman" panose="02020603050405020304"/>
            </a:endParaRPr>
          </a:p>
          <a:p>
            <a:pPr marL="469900" indent="-457200">
              <a:lnSpc>
                <a:spcPts val="3175"/>
              </a:lnSpc>
              <a:spcBef>
                <a:spcPts val="90"/>
              </a:spcBef>
              <a:buFont typeface="Wingdings" panose="05000000000000000000" charset="0"/>
              <a:buChar char="Ø"/>
              <a:tabLst>
                <a:tab pos="514350" algn="l"/>
              </a:tabLst>
            </a:pPr>
            <a:r>
              <a:rPr lang="en-US" altLang="en-US" sz="2400" b="0">
                <a:latin typeface="Times New Roman" panose="02020603050405020304"/>
                <a:cs typeface="Times New Roman" panose="02020603050405020304"/>
              </a:rPr>
              <a:t>Achieve high accuracy but may struggle with creativity and fairness.</a:t>
            </a:r>
            <a:endParaRPr lang="en-US" altLang="en-US" sz="2400" b="0">
              <a:latin typeface="Times New Roman" panose="02020603050405020304"/>
              <a:cs typeface="Times New Roman" panose="02020603050405020304"/>
            </a:endParaRPr>
          </a:p>
          <a:p>
            <a:pPr marL="469900" indent="-457200">
              <a:lnSpc>
                <a:spcPts val="3175"/>
              </a:lnSpc>
              <a:spcBef>
                <a:spcPts val="90"/>
              </a:spcBef>
              <a:buFont typeface="Wingdings" panose="05000000000000000000" charset="0"/>
              <a:buChar char="Ø"/>
              <a:tabLst>
                <a:tab pos="514350" algn="l"/>
              </a:tabLst>
            </a:pPr>
            <a:r>
              <a:rPr lang="en-US" altLang="en-US" sz="2400" b="0">
                <a:latin typeface="Times New Roman" panose="02020603050405020304"/>
                <a:cs typeface="Times New Roman" panose="02020603050405020304"/>
              </a:rPr>
              <a:t>Scalable for large classrooms</a:t>
            </a:r>
            <a:endParaRPr lang="en-US" altLang="en-US" sz="2400" b="0">
              <a:latin typeface="Times New Roman" panose="02020603050405020304"/>
              <a:cs typeface="Times New Roman" panose="02020603050405020304"/>
            </a:endParaRPr>
          </a:p>
          <a:p>
            <a:pPr marL="469900" indent="-457200">
              <a:lnSpc>
                <a:spcPts val="3175"/>
              </a:lnSpc>
              <a:spcBef>
                <a:spcPts val="90"/>
              </a:spcBef>
              <a:buFont typeface="Wingdings" panose="05000000000000000000" charset="0"/>
              <a:buChar char="Ø"/>
              <a:tabLst>
                <a:tab pos="514350" algn="l"/>
              </a:tabLst>
            </a:pPr>
            <a:r>
              <a:rPr lang="en-US" altLang="en-US" sz="2400" b="0">
                <a:latin typeface="Times New Roman" panose="02020603050405020304"/>
                <a:cs typeface="Times New Roman" panose="02020603050405020304"/>
              </a:rPr>
              <a:t>Accuracy: 87–94%</a:t>
            </a:r>
            <a:endParaRPr lang="en-US" altLang="en-US" sz="2400" b="0">
              <a:latin typeface="Times New Roman" panose="02020603050405020304"/>
              <a:cs typeface="Times New Roman" panose="02020603050405020304"/>
            </a:endParaRPr>
          </a:p>
          <a:p>
            <a:pPr marL="469900" indent="-457200">
              <a:lnSpc>
                <a:spcPts val="3175"/>
              </a:lnSpc>
              <a:spcBef>
                <a:spcPts val="90"/>
              </a:spcBef>
              <a:buFont typeface="Wingdings" panose="05000000000000000000" charset="0"/>
              <a:buChar char="Ø"/>
              <a:tabLst>
                <a:tab pos="514350" algn="l"/>
              </a:tabLst>
            </a:pPr>
            <a:endParaRPr lang="en-US" altLang="en-US" sz="2400" b="0">
              <a:latin typeface="Times New Roman" panose="02020603050405020304"/>
              <a:cs typeface="Times New Roman" panose="02020603050405020304"/>
            </a:endParaRPr>
          </a:p>
          <a:p>
            <a:pPr marL="12700" indent="0">
              <a:lnSpc>
                <a:spcPts val="3175"/>
              </a:lnSpc>
              <a:spcBef>
                <a:spcPts val="90"/>
              </a:spcBef>
              <a:buFont typeface="Wingdings" panose="05000000000000000000" charset="0"/>
              <a:buNone/>
              <a:tabLst>
                <a:tab pos="514350" algn="l"/>
              </a:tabLst>
            </a:pPr>
            <a:r>
              <a:rPr lang="en-US" altLang="en-US" sz="2800" b="1">
                <a:latin typeface="Times New Roman" panose="02020603050405020304"/>
                <a:cs typeface="Times New Roman" panose="02020603050405020304"/>
              </a:rPr>
              <a:t>Intelligent Tutoring Systems</a:t>
            </a:r>
            <a:endParaRPr lang="en-US" altLang="en-US" sz="2800" b="1">
              <a:latin typeface="Times New Roman" panose="02020603050405020304"/>
              <a:cs typeface="Times New Roman" panose="02020603050405020304"/>
            </a:endParaRPr>
          </a:p>
          <a:p>
            <a:pPr marL="12700" indent="0">
              <a:lnSpc>
                <a:spcPts val="3175"/>
              </a:lnSpc>
              <a:spcBef>
                <a:spcPts val="90"/>
              </a:spcBef>
              <a:buFont typeface="Wingdings" panose="05000000000000000000" charset="0"/>
              <a:buChar char="Ø"/>
              <a:tabLst>
                <a:tab pos="514350" algn="l"/>
              </a:tabLst>
            </a:pPr>
            <a:r>
              <a:rPr lang="en-US" altLang="en-US" sz="2400" b="0">
                <a:latin typeface="Times New Roman" panose="02020603050405020304"/>
                <a:cs typeface="Times New Roman" panose="02020603050405020304"/>
              </a:rPr>
              <a:t>ITS provide personalized, real-time guidance to students.</a:t>
            </a:r>
            <a:endParaRPr lang="en-US" altLang="en-US" sz="2400" b="0">
              <a:latin typeface="Times New Roman" panose="02020603050405020304"/>
              <a:cs typeface="Times New Roman" panose="02020603050405020304"/>
            </a:endParaRPr>
          </a:p>
          <a:p>
            <a:pPr marL="12700" indent="0">
              <a:lnSpc>
                <a:spcPts val="3175"/>
              </a:lnSpc>
              <a:spcBef>
                <a:spcPts val="90"/>
              </a:spcBef>
              <a:buFont typeface="Wingdings" panose="05000000000000000000" charset="0"/>
              <a:buChar char="Ø"/>
              <a:tabLst>
                <a:tab pos="514350" algn="l"/>
              </a:tabLst>
            </a:pPr>
            <a:r>
              <a:rPr lang="en-US" altLang="en-US" sz="2400" b="0">
                <a:latin typeface="Times New Roman" panose="02020603050405020304"/>
                <a:cs typeface="Times New Roman" panose="02020603050405020304"/>
              </a:rPr>
              <a:t>They simulate one-on-one tutoring using AI models.</a:t>
            </a:r>
            <a:endParaRPr lang="en-US" altLang="en-US" sz="2400" b="0">
              <a:latin typeface="Times New Roman" panose="02020603050405020304"/>
              <a:cs typeface="Times New Roman" panose="02020603050405020304"/>
            </a:endParaRPr>
          </a:p>
          <a:p>
            <a:pPr marL="12700" indent="0">
              <a:lnSpc>
                <a:spcPts val="3175"/>
              </a:lnSpc>
              <a:spcBef>
                <a:spcPts val="90"/>
              </a:spcBef>
              <a:buFont typeface="Wingdings" panose="05000000000000000000" charset="0"/>
              <a:buChar char="Ø"/>
              <a:tabLst>
                <a:tab pos="514350" algn="l"/>
              </a:tabLst>
            </a:pPr>
            <a:r>
              <a:rPr lang="en-US" altLang="en-US" sz="2400" b="0">
                <a:latin typeface="Times New Roman" panose="02020603050405020304"/>
                <a:cs typeface="Times New Roman" panose="02020603050405020304"/>
              </a:rPr>
              <a:t>Significantly improve learning outcomes and engagement.</a:t>
            </a:r>
            <a:endParaRPr lang="en-US" altLang="en-US" sz="2400" b="0">
              <a:latin typeface="Times New Roman" panose="02020603050405020304"/>
              <a:cs typeface="Times New Roman" panose="02020603050405020304"/>
            </a:endParaRPr>
          </a:p>
          <a:p>
            <a:pPr marL="12700" indent="0">
              <a:lnSpc>
                <a:spcPts val="3175"/>
              </a:lnSpc>
              <a:spcBef>
                <a:spcPts val="90"/>
              </a:spcBef>
              <a:buFont typeface="Wingdings" panose="05000000000000000000" charset="0"/>
              <a:buChar char="Ø"/>
              <a:tabLst>
                <a:tab pos="514350" algn="l"/>
              </a:tabLst>
            </a:pPr>
            <a:r>
              <a:rPr lang="en-US" altLang="en-US" sz="2400" b="0">
                <a:latin typeface="Times New Roman" panose="02020603050405020304"/>
                <a:cs typeface="Times New Roman" panose="02020603050405020304"/>
              </a:rPr>
              <a:t>Continuous feedback loop.</a:t>
            </a:r>
            <a:endParaRPr lang="en-US" altLang="en-US" sz="2400" b="0">
              <a:latin typeface="Times New Roman" panose="02020603050405020304"/>
              <a:cs typeface="Times New Roman" panose="02020603050405020304"/>
            </a:endParaRPr>
          </a:p>
          <a:p>
            <a:pPr marL="12700" indent="0">
              <a:lnSpc>
                <a:spcPts val="3175"/>
              </a:lnSpc>
              <a:spcBef>
                <a:spcPts val="90"/>
              </a:spcBef>
              <a:buFont typeface="Wingdings" panose="05000000000000000000" charset="0"/>
              <a:buChar char="Ø"/>
              <a:tabLst>
                <a:tab pos="514350" algn="l"/>
              </a:tabLst>
            </a:pPr>
            <a:r>
              <a:rPr lang="en-US" altLang="en-US" sz="2400" b="0">
                <a:latin typeface="Times New Roman" panose="02020603050405020304"/>
                <a:cs typeface="Times New Roman" panose="02020603050405020304"/>
              </a:rPr>
              <a:t>Learning gains: 15–25%</a:t>
            </a:r>
            <a:endParaRPr lang="en-US" altLang="en-US" sz="2400" b="0">
              <a:latin typeface="Times New Roman" panose="02020603050405020304"/>
              <a:cs typeface="Times New Roman" panose="0202060305040502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098" y="278373"/>
            <a:ext cx="4933315" cy="552450"/>
          </a:xfrm>
          <a:prstGeom prst="rect">
            <a:avLst/>
          </a:prstGeom>
        </p:spPr>
        <p:txBody>
          <a:bodyPr vert="horz" wrap="square" lIns="0" tIns="14604" rIns="0" bIns="0" rtlCol="0">
            <a:spAutoFit/>
          </a:bodyPr>
          <a:lstStyle/>
          <a:p>
            <a:pPr marL="890270">
              <a:lnSpc>
                <a:spcPct val="100000"/>
              </a:lnSpc>
              <a:spcBef>
                <a:spcPts val="115"/>
              </a:spcBef>
            </a:pPr>
            <a:r>
              <a:rPr lang="en-US" spc="-20" dirty="0"/>
              <a:t>RESULTS</a:t>
            </a:r>
            <a:endParaRPr lang="en-US" spc="-20" dirty="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350"/>
              </a:lnSpc>
            </a:pPr>
            <a:fld id="{81D60167-4931-47E6-BA6A-407CBD079E47}" type="slidenum">
              <a:rPr spc="-50" dirty="0"/>
            </a:fld>
            <a:endParaRPr spc="-50" dirty="0"/>
          </a:p>
        </p:txBody>
      </p:sp>
      <p:sp>
        <p:nvSpPr>
          <p:cNvPr id="3" name="object 3"/>
          <p:cNvSpPr txBox="1"/>
          <p:nvPr/>
        </p:nvSpPr>
        <p:spPr>
          <a:xfrm>
            <a:off x="304800" y="1066800"/>
            <a:ext cx="9424035" cy="6221095"/>
          </a:xfrm>
          <a:prstGeom prst="rect">
            <a:avLst/>
          </a:prstGeom>
        </p:spPr>
        <p:txBody>
          <a:bodyPr vert="horz" wrap="square" lIns="0" tIns="12700" rIns="0" bIns="0" rtlCol="0">
            <a:noAutofit/>
          </a:bodyPr>
          <a:lstStyle/>
          <a:p>
            <a:pPr marL="12700" marR="5080">
              <a:lnSpc>
                <a:spcPct val="101000"/>
              </a:lnSpc>
              <a:spcBef>
                <a:spcPts val="100"/>
              </a:spcBef>
            </a:pPr>
            <a:r>
              <a:rPr lang="en-US" altLang="en-US" sz="2800" b="1">
                <a:latin typeface="Times New Roman" panose="02020603050405020304"/>
                <a:cs typeface="Times New Roman" panose="02020603050405020304"/>
              </a:rPr>
              <a:t>Adaptive Learning Systems</a:t>
            </a:r>
            <a:endParaRPr lang="en-US" altLang="en-US" sz="2800" b="1">
              <a:latin typeface="Times New Roman" panose="02020603050405020304"/>
              <a:cs typeface="Times New Roman" panose="02020603050405020304"/>
            </a:endParaRPr>
          </a:p>
          <a:p>
            <a:pPr marL="469900" marR="5080" indent="-457200">
              <a:lnSpc>
                <a:spcPct val="101000"/>
              </a:lnSpc>
              <a:spcBef>
                <a:spcPts val="100"/>
              </a:spcBef>
              <a:buFont typeface="Wingdings" panose="05000000000000000000" charset="0"/>
              <a:buChar char="Ø"/>
            </a:pPr>
            <a:r>
              <a:rPr lang="en-US" altLang="en-US" sz="2400" b="0">
                <a:latin typeface="Times New Roman" panose="02020603050405020304"/>
                <a:cs typeface="Times New Roman" panose="02020603050405020304"/>
              </a:rPr>
              <a:t>Adaptive systems personalize learning paths and pace.</a:t>
            </a:r>
            <a:endParaRPr lang="en-US" altLang="en-US" sz="2400" b="0">
              <a:latin typeface="Times New Roman" panose="02020603050405020304"/>
              <a:cs typeface="Times New Roman" panose="02020603050405020304"/>
            </a:endParaRPr>
          </a:p>
          <a:p>
            <a:pPr marL="469900" marR="5080" indent="-457200">
              <a:lnSpc>
                <a:spcPct val="101000"/>
              </a:lnSpc>
              <a:spcBef>
                <a:spcPts val="100"/>
              </a:spcBef>
              <a:buFont typeface="Wingdings" panose="05000000000000000000" charset="0"/>
              <a:buChar char="Ø"/>
            </a:pPr>
            <a:r>
              <a:rPr lang="en-US" altLang="en-US" sz="2400" b="0">
                <a:latin typeface="Times New Roman" panose="02020603050405020304"/>
                <a:cs typeface="Times New Roman" panose="02020603050405020304"/>
              </a:rPr>
              <a:t>They adjust content based on student performance.</a:t>
            </a:r>
            <a:endParaRPr lang="en-US" altLang="en-US" sz="2400" b="0">
              <a:latin typeface="Times New Roman" panose="02020603050405020304"/>
              <a:cs typeface="Times New Roman" panose="02020603050405020304"/>
            </a:endParaRPr>
          </a:p>
          <a:p>
            <a:pPr marL="469900" marR="5080" indent="-457200">
              <a:lnSpc>
                <a:spcPct val="101000"/>
              </a:lnSpc>
              <a:spcBef>
                <a:spcPts val="100"/>
              </a:spcBef>
              <a:buFont typeface="Wingdings" panose="05000000000000000000" charset="0"/>
              <a:buChar char="Ø"/>
            </a:pPr>
            <a:r>
              <a:rPr lang="en-US" altLang="en-US" sz="2400" b="0">
                <a:latin typeface="Times New Roman" panose="02020603050405020304"/>
                <a:cs typeface="Times New Roman" panose="02020603050405020304"/>
              </a:rPr>
              <a:t>Most effective when combined with human teaching.</a:t>
            </a:r>
            <a:endParaRPr lang="en-US" altLang="en-US" sz="2400" b="0">
              <a:latin typeface="Times New Roman" panose="02020603050405020304"/>
              <a:cs typeface="Times New Roman" panose="02020603050405020304"/>
            </a:endParaRPr>
          </a:p>
          <a:p>
            <a:pPr marL="469900" marR="5080" indent="-457200">
              <a:lnSpc>
                <a:spcPct val="101000"/>
              </a:lnSpc>
              <a:spcBef>
                <a:spcPts val="100"/>
              </a:spcBef>
              <a:buFont typeface="Wingdings" panose="05000000000000000000" charset="0"/>
              <a:buChar char="Ø"/>
            </a:pPr>
            <a:endParaRPr lang="en-US" altLang="en-US" sz="2400" b="0">
              <a:latin typeface="Times New Roman" panose="02020603050405020304"/>
              <a:cs typeface="Times New Roman" panose="02020603050405020304"/>
            </a:endParaRPr>
          </a:p>
          <a:p>
            <a:pPr marL="469900" marR="5080" indent="-457200">
              <a:lnSpc>
                <a:spcPct val="101000"/>
              </a:lnSpc>
              <a:spcBef>
                <a:spcPts val="100"/>
              </a:spcBef>
              <a:buFont typeface="Wingdings" panose="05000000000000000000" charset="0"/>
              <a:buChar char="Ø"/>
            </a:pPr>
            <a:endParaRPr lang="en-US" altLang="en-US" sz="2400" b="0">
              <a:latin typeface="Times New Roman" panose="02020603050405020304"/>
              <a:cs typeface="Times New Roman" panose="02020603050405020304"/>
            </a:endParaRPr>
          </a:p>
        </p:txBody>
      </p:sp>
      <p:pic>
        <p:nvPicPr>
          <p:cNvPr id="5" name="Picture 4" descr="Screenshot 2026-03-23 212032"/>
          <p:cNvPicPr>
            <a:picLocks noChangeAspect="1"/>
          </p:cNvPicPr>
          <p:nvPr/>
        </p:nvPicPr>
        <p:blipFill>
          <a:blip r:embed="rId1"/>
          <a:stretch>
            <a:fillRect/>
          </a:stretch>
        </p:blipFill>
        <p:spPr>
          <a:xfrm>
            <a:off x="152400" y="3048000"/>
            <a:ext cx="9785350" cy="41713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240" y="278130"/>
            <a:ext cx="6692900" cy="626745"/>
          </a:xfrm>
          <a:prstGeom prst="rect">
            <a:avLst/>
          </a:prstGeom>
        </p:spPr>
        <p:txBody>
          <a:bodyPr vert="horz" wrap="square" lIns="0" tIns="14604" rIns="0" bIns="0" rtlCol="0">
            <a:noAutofit/>
          </a:bodyPr>
          <a:lstStyle/>
          <a:p>
            <a:pPr marL="12700">
              <a:lnSpc>
                <a:spcPct val="100000"/>
              </a:lnSpc>
              <a:spcBef>
                <a:spcPts val="115"/>
              </a:spcBef>
            </a:pPr>
            <a:r>
              <a:rPr lang="en-US" sz="2800" spc="-20" dirty="0"/>
              <a:t>CHALLENGES VS FUTURE DIRECTIONS</a:t>
            </a:r>
            <a:endParaRPr lang="en-US" sz="2800" spc="-20" dirty="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350"/>
              </a:lnSpc>
            </a:pPr>
            <a:fld id="{81D60167-4931-47E6-BA6A-407CBD079E47}" type="slidenum">
              <a:rPr spc="-50" dirty="0"/>
            </a:fld>
            <a:endParaRPr spc="-50" dirty="0"/>
          </a:p>
        </p:txBody>
      </p:sp>
      <p:pic>
        <p:nvPicPr>
          <p:cNvPr id="5" name="Picture 4" descr="Screenshot 2026-03-23 212016"/>
          <p:cNvPicPr>
            <a:picLocks noChangeAspect="1"/>
          </p:cNvPicPr>
          <p:nvPr/>
        </p:nvPicPr>
        <p:blipFill>
          <a:blip r:embed="rId1"/>
          <a:stretch>
            <a:fillRect/>
          </a:stretch>
        </p:blipFill>
        <p:spPr>
          <a:xfrm>
            <a:off x="177165" y="1371600"/>
            <a:ext cx="9703435" cy="56305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800" y="278130"/>
            <a:ext cx="5525135" cy="520065"/>
          </a:xfrm>
          <a:prstGeom prst="rect">
            <a:avLst/>
          </a:prstGeom>
        </p:spPr>
        <p:txBody>
          <a:bodyPr vert="horz" wrap="square" lIns="0" tIns="12700" rIns="0" bIns="0" rtlCol="0">
            <a:spAutoFit/>
          </a:bodyPr>
          <a:lstStyle/>
          <a:p>
            <a:pPr marL="1569720">
              <a:lnSpc>
                <a:spcPct val="100000"/>
              </a:lnSpc>
              <a:spcBef>
                <a:spcPts val="100"/>
              </a:spcBef>
            </a:pPr>
            <a:r>
              <a:rPr lang="en-US" sz="3300"/>
              <a:t>DISCUSSION</a:t>
            </a:r>
            <a:endParaRPr lang="en-US" sz="330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350"/>
              </a:lnSpc>
            </a:pPr>
            <a:fld id="{81D60167-4931-47E6-BA6A-407CBD079E47}" type="slidenum">
              <a:rPr spc="-50" dirty="0"/>
            </a:fld>
            <a:endParaRPr spc="-50" dirty="0"/>
          </a:p>
        </p:txBody>
      </p:sp>
      <p:sp>
        <p:nvSpPr>
          <p:cNvPr id="3" name="Text Box 2"/>
          <p:cNvSpPr txBox="1"/>
          <p:nvPr/>
        </p:nvSpPr>
        <p:spPr>
          <a:xfrm>
            <a:off x="305435" y="1507490"/>
            <a:ext cx="9448165" cy="4092575"/>
          </a:xfrm>
          <a:prstGeom prst="rect">
            <a:avLst/>
          </a:prstGeom>
          <a:noFill/>
        </p:spPr>
        <p:txBody>
          <a:bodyPr wrap="square" rtlCol="0">
            <a:spAutoFit/>
          </a:bodyPr>
          <a:p>
            <a:r>
              <a:rPr lang="en-US" altLang="en-US" sz="2000"/>
              <a:t>Our analysis shows that AI significantly improves learning efficiency by making education more personalized and adaptive. It also increases student engagement and overall learning outcomes.”</a:t>
            </a:r>
            <a:endParaRPr lang="en-US" altLang="en-US" sz="2000"/>
          </a:p>
          <a:p>
            <a:endParaRPr lang="en-US" altLang="en-US" sz="2000"/>
          </a:p>
          <a:p>
            <a:r>
              <a:rPr lang="en-US" altLang="en-US" sz="2000"/>
              <a:t>However, each system comes with its own trade-offs. For example, some are highly accurate but expensive, while others are scalable but less personalized.</a:t>
            </a:r>
            <a:endParaRPr lang="en-US" altLang="en-US" sz="2000"/>
          </a:p>
          <a:p>
            <a:endParaRPr lang="en-US" altLang="en-US" sz="2000"/>
          </a:p>
          <a:p>
            <a:r>
              <a:rPr lang="en-US" altLang="en-US" sz="2000"/>
              <a:t>Additionally, there are important challenges such as algorithmic bias, lack of transparency, and concerns related to student data privacy.</a:t>
            </a:r>
            <a:endParaRPr lang="en-US" altLang="en-US" sz="2000"/>
          </a:p>
          <a:p>
            <a:endParaRPr lang="en-US" altLang="en-US" sz="2000"/>
          </a:p>
          <a:p>
            <a:r>
              <a:rPr lang="en-US" altLang="en-US" sz="2000" b="1"/>
              <a:t>“Based on our findings, the most effective approach is not replacing teachers, but combining AI with human instruction to create a more balanced learning environment.”</a:t>
            </a:r>
            <a:endParaRPr lang="en-US" altLang="en-US" sz="2000" b="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346733" y="278373"/>
            <a:ext cx="4933315" cy="538480"/>
          </a:xfrm>
        </p:spPr>
        <p:txBody>
          <a:bodyPr/>
          <a:p>
            <a:r>
              <a:rPr lang="en-US"/>
              <a:t>CONCLUSION</a:t>
            </a:r>
            <a:endParaRPr lang="en-US"/>
          </a:p>
        </p:txBody>
      </p:sp>
      <p:sp>
        <p:nvSpPr>
          <p:cNvPr id="3" name="Text Box 2"/>
          <p:cNvSpPr txBox="1"/>
          <p:nvPr/>
        </p:nvSpPr>
        <p:spPr>
          <a:xfrm>
            <a:off x="381000" y="1464310"/>
            <a:ext cx="8760460" cy="2306955"/>
          </a:xfrm>
          <a:prstGeom prst="rect">
            <a:avLst/>
          </a:prstGeom>
          <a:noFill/>
        </p:spPr>
        <p:txBody>
          <a:bodyPr wrap="square" rtlCol="0">
            <a:spAutoFit/>
          </a:bodyPr>
          <a:p>
            <a:pPr marL="285750" indent="-285750">
              <a:buFont typeface="Wingdings" panose="05000000000000000000" charset="0"/>
              <a:buChar char="Ø"/>
            </a:pPr>
            <a:r>
              <a:rPr lang="en-US" altLang="en-US" sz="2400"/>
              <a:t>AI is transforming education towards personalized learning</a:t>
            </a:r>
            <a:endParaRPr lang="en-US" altLang="en-US" sz="2400"/>
          </a:p>
          <a:p>
            <a:pPr marL="285750" indent="-285750">
              <a:buFont typeface="Wingdings" panose="05000000000000000000" charset="0"/>
              <a:buChar char="Ø"/>
            </a:pPr>
            <a:r>
              <a:rPr lang="en-US" altLang="en-US" sz="2400"/>
              <a:t>Improves efficiency, scalability, and feedback speed</a:t>
            </a:r>
            <a:endParaRPr lang="en-US" altLang="en-US" sz="2400"/>
          </a:p>
          <a:p>
            <a:pPr marL="285750" indent="-285750">
              <a:buFont typeface="Wingdings" panose="05000000000000000000" charset="0"/>
              <a:buChar char="Ø"/>
            </a:pPr>
            <a:r>
              <a:rPr lang="en-US" altLang="en-US" sz="2400"/>
              <a:t>Challenges still exist: bias, privacy, transparency</a:t>
            </a:r>
            <a:endParaRPr lang="en-US" altLang="en-US" sz="2400"/>
          </a:p>
          <a:p>
            <a:pPr marL="285750" indent="-285750">
              <a:buFont typeface="Wingdings" panose="05000000000000000000" charset="0"/>
              <a:buChar char="Ø"/>
            </a:pPr>
            <a:r>
              <a:rPr lang="en-US" altLang="en-US" sz="2400"/>
              <a:t>Future lies in human-centered AI integration</a:t>
            </a:r>
            <a:endParaRPr lang="en-US" altLang="en-US" sz="2400"/>
          </a:p>
          <a:p>
            <a:pPr marL="285750" indent="-285750">
              <a:buFont typeface="Wingdings" panose="05000000000000000000" charset="0"/>
              <a:buChar char="Ø"/>
            </a:pPr>
            <a:endParaRPr lang="en-US" altLang="en-US" sz="2400"/>
          </a:p>
          <a:p>
            <a:pPr marL="0" indent="0">
              <a:buFont typeface="Wingdings" panose="05000000000000000000" charset="0"/>
              <a:buNone/>
            </a:pPr>
            <a:endParaRPr lang="en-US" altLang="en-US"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48309" y="3503193"/>
            <a:ext cx="3337560" cy="930910"/>
          </a:xfrm>
          <a:prstGeom prst="rect">
            <a:avLst/>
          </a:prstGeom>
        </p:spPr>
        <p:txBody>
          <a:bodyPr vert="horz" wrap="square" lIns="0" tIns="17780" rIns="0" bIns="0" rtlCol="0">
            <a:spAutoFit/>
          </a:bodyPr>
          <a:lstStyle/>
          <a:p>
            <a:pPr marL="12700">
              <a:lnSpc>
                <a:spcPct val="100000"/>
              </a:lnSpc>
              <a:spcBef>
                <a:spcPts val="140"/>
              </a:spcBef>
            </a:pPr>
            <a:r>
              <a:rPr sz="5900" dirty="0"/>
              <a:t>Thank</a:t>
            </a:r>
            <a:r>
              <a:rPr sz="5900" spc="-200" dirty="0"/>
              <a:t> </a:t>
            </a:r>
            <a:r>
              <a:rPr sz="5900" spc="-530" dirty="0"/>
              <a:t>Y</a:t>
            </a:r>
            <a:r>
              <a:rPr sz="5900" spc="80" dirty="0"/>
              <a:t>ou</a:t>
            </a:r>
            <a:endParaRPr sz="5900"/>
          </a:p>
        </p:txBody>
      </p:sp>
      <p:sp>
        <p:nvSpPr>
          <p:cNvPr id="3" name="object 3"/>
          <p:cNvSpPr txBox="1"/>
          <p:nvPr/>
        </p:nvSpPr>
        <p:spPr>
          <a:xfrm>
            <a:off x="9271511" y="7227086"/>
            <a:ext cx="196215" cy="193040"/>
          </a:xfrm>
          <a:prstGeom prst="rect">
            <a:avLst/>
          </a:prstGeom>
        </p:spPr>
        <p:txBody>
          <a:bodyPr vert="horz" wrap="square" lIns="0" tIns="0" rIns="0" bIns="0" rtlCol="0">
            <a:spAutoFit/>
          </a:bodyPr>
          <a:lstStyle/>
          <a:p>
            <a:pPr marL="12700">
              <a:lnSpc>
                <a:spcPts val="1350"/>
              </a:lnSpc>
            </a:pPr>
            <a:r>
              <a:rPr sz="1300" b="1" spc="-25" dirty="0">
                <a:latin typeface="Calibri" panose="020F0502020204030204"/>
                <a:cs typeface="Calibri" panose="020F0502020204030204"/>
              </a:rPr>
              <a:t>11</a:t>
            </a:r>
            <a:endParaRPr sz="1300">
              <a:latin typeface="Calibri" panose="020F0502020204030204"/>
              <a:cs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3404</Words>
  <Application>WPS Presentation</Application>
  <PresentationFormat>Custom</PresentationFormat>
  <Paragraphs>108</Paragraphs>
  <Slides>10</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vt:i4>
      </vt:variant>
    </vt:vector>
  </HeadingPairs>
  <TitlesOfParts>
    <vt:vector size="21" baseType="lpstr">
      <vt:lpstr>Arial</vt:lpstr>
      <vt:lpstr>SimSun</vt:lpstr>
      <vt:lpstr>Wingdings</vt:lpstr>
      <vt:lpstr>Times New Roman</vt:lpstr>
      <vt:lpstr>Calibri</vt:lpstr>
      <vt:lpstr>Times New Roman</vt:lpstr>
      <vt:lpstr>Calibri</vt:lpstr>
      <vt:lpstr>Wingdings</vt:lpstr>
      <vt:lpstr>Microsoft YaHei</vt:lpstr>
      <vt:lpstr>Arial Unicode MS</vt:lpstr>
      <vt:lpstr>Office Theme</vt:lpstr>
      <vt:lpstr>PowerPoint 演示文稿</vt:lpstr>
      <vt:lpstr>INTRODUCTION</vt:lpstr>
      <vt:lpstr>BACKGROUND</vt:lpstr>
      <vt:lpstr>METHODS</vt:lpstr>
      <vt:lpstr>RESULTS</vt:lpstr>
      <vt:lpstr>RESULTS</vt:lpstr>
      <vt:lpstr>CHALLENGES VS FUTURE DIRECTIONS</vt:lpstr>
      <vt:lpstr>DISCUSSION</vt:lpstr>
      <vt:lpstr>CONCLUSION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PowerPoint - final presentaion bee</dc:title>
  <dc:creator>Karan Arora</dc:creator>
  <cp:lastModifiedBy>gourvi sharma</cp:lastModifiedBy>
  <cp:revision>5</cp:revision>
  <dcterms:created xsi:type="dcterms:W3CDTF">2025-12-12T11:10:00Z</dcterms:created>
  <dcterms:modified xsi:type="dcterms:W3CDTF">2026-05-15T15:03:08Z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2024-09-25T16:30:00Z</vt:filetime>
  </property>
  <property fmtid="{D5CDD505-2E9C-101B-9397-08002B2CF9AE}" pid="3" name="LastSaved">
    <vt:filetime>2025-12-12T16:30:00Z</vt:filetime>
  </property>
  <property fmtid="{D5CDD505-2E9C-101B-9397-08002B2CF9AE}" pid="4" name="Producer">
    <vt:lpwstr>Microsoft: Print To PDF</vt:lpwstr>
  </property>
  <property fmtid="{D5CDD505-2E9C-101B-9397-08002B2CF9AE}" pid="5" name="ICV">
    <vt:lpwstr>6327BD8491754D76AB923B1BF26D9991_12</vt:lpwstr>
  </property>
  <property fmtid="{D5CDD505-2E9C-101B-9397-08002B2CF9AE}" pid="6" name="KSOProductBuildVer">
    <vt:lpwstr>1033-12.2.0.23196</vt:lpwstr>
  </property>
</Properties>
</file>